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4A76909-1354-41D0-A7A0-E654AC0BD8A4}">
  <a:tblStyle styleId="{14A76909-1354-41D0-A7A0-E654AC0BD8A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g40a2713dd7a_3_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" name="Google Shape;9;g40a2713dd7a_3_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with the one question </a:t>
            </a:r>
            <a:r>
              <a:rPr lang="en"/>
              <a:t>Vriddhi</a:t>
            </a:r>
            <a:r>
              <a:rPr lang="en"/>
              <a:t> answers: what should I learn next, and what will it be worth? Then read the problem statement line.</a:t>
            </a:r>
            <a:endParaRPr/>
          </a:p>
        </p:txBody>
      </p:sp>
      <p:sp>
        <p:nvSpPr>
          <p:cNvPr id="10" name="Google Shape;10;g40a2713dd7a_3_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40a2713dd7a_3_4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g40a2713dd7a_3_4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stakeholders ask three versions of the same question, and none of them share a data signal. That is the gap </a:t>
            </a:r>
            <a:r>
              <a:rPr lang="en"/>
              <a:t>Vriddhi</a:t>
            </a:r>
            <a:r>
              <a:rPr lang="en"/>
              <a:t> fills.</a:t>
            </a:r>
            <a:endParaRPr/>
          </a:p>
        </p:txBody>
      </p:sp>
      <p:sp>
        <p:nvSpPr>
          <p:cNvPr id="54" name="Google Shape;54;g40a2713dd7a_3_4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40a2713dd7a_3_9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g40a2713dd7a_3_9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40a2713dd7a_3_9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40a2713dd7a_3_11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g40a2713dd7a_3_11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40a2713dd7a_3_11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40a2713dd7a_3_182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g40a2713dd7a_3_182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40a2713dd7a_3_182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40a2713dd7a_3_24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g40a2713dd7a_3_24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40a2713dd7a_3_24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40a2713dd7a_3_27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g40a2713dd7a_3_27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g40a2713dd7a_3_27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40a2713dd7a_3_33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g40a2713dd7a_3_33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g40a2713dd7a_3_33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40a2713dd7a_3_39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g40a2713dd7a_3_39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g40a2713dd7a_3_39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40a2713dd7a_3_43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1" name="Google Shape;441;g40a2713dd7a_3_43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g40a2713dd7a_3_43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hyperlink" Target="http://yrxkush.github.io/Vriddhi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5.png"/><Relationship Id="rId7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/>
        </p:nvSpPr>
        <p:spPr>
          <a:xfrm>
            <a:off x="411480" y="925830"/>
            <a:ext cx="48006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B12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E07B12"/>
                </a:solidFill>
                <a:latin typeface="Arial"/>
                <a:ea typeface="Arial"/>
                <a:cs typeface="Arial"/>
                <a:sym typeface="Arial"/>
              </a:rPr>
              <a:t>BUILD FOR BHARAT 2.0  · 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3"/>
          <p:cNvSpPr txBox="1"/>
          <p:nvPr/>
        </p:nvSpPr>
        <p:spPr>
          <a:xfrm>
            <a:off x="411480" y="1179576"/>
            <a:ext cx="5143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4500"/>
              <a:buFont typeface="Cambria"/>
              <a:buNone/>
            </a:pPr>
            <a:r>
              <a:rPr b="1" lang="en" sz="4500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Vriddhi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3"/>
          <p:cNvSpPr txBox="1"/>
          <p:nvPr/>
        </p:nvSpPr>
        <p:spPr>
          <a:xfrm>
            <a:off x="411480" y="1885950"/>
            <a:ext cx="5212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1300"/>
              <a:buFont typeface="Calibri"/>
              <a:buNone/>
            </a:pPr>
            <a:r>
              <a:rPr b="0" i="1" lang="en" sz="1300" u="none" cap="none" strike="noStrike">
                <a:solidFill>
                  <a:srgbClr val="2F5597"/>
                </a:solidFill>
                <a:latin typeface="Calibri"/>
                <a:ea typeface="Calibri"/>
                <a:cs typeface="Calibri"/>
                <a:sym typeface="Calibri"/>
              </a:rPr>
              <a:t>India’s workforce intelligence engine — it tells every learner what to learn next, and what that skill will be worth.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"/>
          <p:cNvSpPr/>
          <p:nvPr/>
        </p:nvSpPr>
        <p:spPr>
          <a:xfrm>
            <a:off x="425196" y="2729484"/>
            <a:ext cx="68580" cy="68580"/>
          </a:xfrm>
          <a:prstGeom prst="ellipse">
            <a:avLst/>
          </a:prstGeom>
          <a:solidFill>
            <a:srgbClr val="E07B12"/>
          </a:solidFill>
          <a:ln cap="flat" cmpd="sng" w="12700">
            <a:solidFill>
              <a:srgbClr val="E07B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 txBox="1"/>
          <p:nvPr/>
        </p:nvSpPr>
        <p:spPr>
          <a:xfrm>
            <a:off x="582930" y="2640330"/>
            <a:ext cx="50749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Problem Statement – </a:t>
            </a:r>
            <a:r>
              <a:rPr b="1" i="0" lang="en" sz="1100" u="none" cap="none" strike="noStrike">
                <a:solidFill>
                  <a:srgbClr val="2F5597"/>
                </a:solidFill>
                <a:latin typeface="Arial"/>
                <a:ea typeface="Arial"/>
                <a:cs typeface="Arial"/>
                <a:sym typeface="Arial"/>
              </a:rPr>
              <a:t>Intelligent Talent &amp; Workforce Ecosystem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425196" y="3086100"/>
            <a:ext cx="68580" cy="68580"/>
          </a:xfrm>
          <a:prstGeom prst="ellipse">
            <a:avLst/>
          </a:prstGeom>
          <a:solidFill>
            <a:srgbClr val="E07B12"/>
          </a:solidFill>
          <a:ln cap="flat" cmpd="sng" w="12700">
            <a:solidFill>
              <a:srgbClr val="E07B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 txBox="1"/>
          <p:nvPr/>
        </p:nvSpPr>
        <p:spPr>
          <a:xfrm>
            <a:off x="582930" y="2996946"/>
            <a:ext cx="50749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Anchored Problem Area – </a:t>
            </a:r>
            <a:r>
              <a:rPr b="1" i="0" lang="en" sz="1100" u="none" cap="none" strike="noStrike">
                <a:solidFill>
                  <a:srgbClr val="2F5597"/>
                </a:solidFill>
                <a:latin typeface="Arial"/>
                <a:ea typeface="Arial"/>
                <a:cs typeface="Arial"/>
                <a:sym typeface="Arial"/>
              </a:rPr>
              <a:t>Career Intelligence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25196" y="3442716"/>
            <a:ext cx="68580" cy="68580"/>
          </a:xfrm>
          <a:prstGeom prst="ellipse">
            <a:avLst/>
          </a:prstGeom>
          <a:solidFill>
            <a:srgbClr val="E07B12"/>
          </a:solidFill>
          <a:ln cap="flat" cmpd="sng" w="12700">
            <a:solidFill>
              <a:srgbClr val="E07B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 txBox="1"/>
          <p:nvPr/>
        </p:nvSpPr>
        <p:spPr>
          <a:xfrm>
            <a:off x="582930" y="3353562"/>
            <a:ext cx="50749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Stakeholders Served – </a:t>
            </a:r>
            <a:r>
              <a:rPr b="1" i="0" lang="en" sz="1100" u="none" cap="none" strike="noStrike">
                <a:solidFill>
                  <a:srgbClr val="2F5597"/>
                </a:solidFill>
                <a:latin typeface="Arial"/>
                <a:ea typeface="Arial"/>
                <a:cs typeface="Arial"/>
                <a:sym typeface="Arial"/>
              </a:rPr>
              <a:t>Students  ·  Recruiters &amp; HR  ·  Universities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25196" y="3799332"/>
            <a:ext cx="68580" cy="68580"/>
          </a:xfrm>
          <a:prstGeom prst="ellipse">
            <a:avLst/>
          </a:prstGeom>
          <a:solidFill>
            <a:srgbClr val="E07B12"/>
          </a:solidFill>
          <a:ln cap="flat" cmpd="sng" w="12700">
            <a:solidFill>
              <a:srgbClr val="E07B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 txBox="1"/>
          <p:nvPr/>
        </p:nvSpPr>
        <p:spPr>
          <a:xfrm>
            <a:off x="582930" y="3710178"/>
            <a:ext cx="50749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Team Name </a:t>
            </a:r>
            <a:r>
              <a:rPr b="1" i="0" lang="en" sz="11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b="1" lang="en" sz="1100">
                <a:solidFill>
                  <a:srgbClr val="2F5597"/>
                </a:solidFill>
              </a:rPr>
              <a:t>unpaid interns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425196" y="4155948"/>
            <a:ext cx="68580" cy="68580"/>
          </a:xfrm>
          <a:prstGeom prst="ellipse">
            <a:avLst/>
          </a:prstGeom>
          <a:solidFill>
            <a:srgbClr val="E07B12"/>
          </a:solidFill>
          <a:ln cap="flat" cmpd="sng" w="12700">
            <a:solidFill>
              <a:srgbClr val="E07B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 txBox="1"/>
          <p:nvPr/>
        </p:nvSpPr>
        <p:spPr>
          <a:xfrm>
            <a:off x="582930" y="4066794"/>
            <a:ext cx="50749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Project –</a:t>
            </a:r>
            <a:r>
              <a:rPr b="1" i="0" lang="en" sz="11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" sz="1100" u="none" cap="none" strike="noStrike">
                <a:solidFill>
                  <a:srgbClr val="2F5597"/>
                </a:solidFill>
                <a:latin typeface="Arial"/>
                <a:ea typeface="Arial"/>
                <a:cs typeface="Arial"/>
                <a:sym typeface="Arial"/>
              </a:rPr>
              <a:t>Vriddhi — AI-Powered Career Intelligence Platform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412230" y="377190"/>
            <a:ext cx="2057400" cy="4354830"/>
          </a:xfrm>
          <a:prstGeom prst="roundRect">
            <a:avLst>
              <a:gd fmla="val 10667" name="adj"/>
            </a:avLst>
          </a:prstGeom>
          <a:solidFill>
            <a:srgbClr val="0F172A"/>
          </a:solidFill>
          <a:ln cap="flat" cmpd="sng" w="762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50800">
              <a:srgbClr val="000000">
                <a:alpha val="25098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6" name="Google Shape;26;p3"/>
          <p:cNvSpPr/>
          <p:nvPr/>
        </p:nvSpPr>
        <p:spPr>
          <a:xfrm>
            <a:off x="6480810" y="445770"/>
            <a:ext cx="1920240" cy="4217670"/>
          </a:xfrm>
          <a:prstGeom prst="roundRect">
            <a:avLst>
              <a:gd fmla="val 8571" name="adj"/>
            </a:avLst>
          </a:prstGeom>
          <a:solidFill>
            <a:srgbClr val="F8FAFC"/>
          </a:solidFill>
          <a:ln cap="flat" cmpd="sng" w="12700">
            <a:solidFill>
              <a:srgbClr val="F8FA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7224975" y="467549"/>
            <a:ext cx="480000" cy="150900"/>
          </a:xfrm>
          <a:prstGeom prst="roundRect">
            <a:avLst>
              <a:gd fmla="val 46154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 txBox="1"/>
          <p:nvPr/>
        </p:nvSpPr>
        <p:spPr>
          <a:xfrm>
            <a:off x="6576822" y="665226"/>
            <a:ext cx="1728216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Career Pulse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 txBox="1"/>
          <p:nvPr/>
        </p:nvSpPr>
        <p:spPr>
          <a:xfrm>
            <a:off x="6576822" y="870966"/>
            <a:ext cx="172821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Data Scientist  ·  Bengaluru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" name="Google Shape;3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92290" y="1076706"/>
            <a:ext cx="109728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/>
        </p:nvSpPr>
        <p:spPr>
          <a:xfrm>
            <a:off x="6892290" y="1488186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42%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 txBox="1"/>
          <p:nvPr/>
        </p:nvSpPr>
        <p:spPr>
          <a:xfrm>
            <a:off x="6576822" y="2173986"/>
            <a:ext cx="1728216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role match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6576822" y="2379726"/>
            <a:ext cx="1728216" cy="582930"/>
          </a:xfrm>
          <a:prstGeom prst="roundRect">
            <a:avLst>
              <a:gd fmla="val 9412" name="adj"/>
            </a:avLst>
          </a:prstGeom>
          <a:solidFill>
            <a:srgbClr val="FFFFFF"/>
          </a:solidFill>
          <a:ln cap="flat" cmpd="sng" w="9525">
            <a:solidFill>
              <a:srgbClr val="D6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"/>
          <p:cNvSpPr txBox="1"/>
          <p:nvPr/>
        </p:nvSpPr>
        <p:spPr>
          <a:xfrm>
            <a:off x="6659118" y="2427732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B12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E07B12"/>
                </a:solidFill>
                <a:latin typeface="Arial"/>
                <a:ea typeface="Arial"/>
                <a:cs typeface="Arial"/>
                <a:sym typeface="Arial"/>
              </a:rPr>
              <a:t>LEARN NEXT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 txBox="1"/>
          <p:nvPr/>
        </p:nvSpPr>
        <p:spPr>
          <a:xfrm>
            <a:off x="6659118" y="2564892"/>
            <a:ext cx="156362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Machine Learning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 txBox="1"/>
          <p:nvPr/>
        </p:nvSpPr>
        <p:spPr>
          <a:xfrm>
            <a:off x="6659118" y="2743200"/>
            <a:ext cx="1563624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+18% match   ·   +₹2.1L / yr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6576822" y="3051810"/>
            <a:ext cx="1728216" cy="582930"/>
          </a:xfrm>
          <a:prstGeom prst="roundRect">
            <a:avLst>
              <a:gd fmla="val 9412" name="adj"/>
            </a:avLst>
          </a:prstGeom>
          <a:solidFill>
            <a:srgbClr val="FFFFFF"/>
          </a:solidFill>
          <a:ln cap="flat" cmpd="sng" w="9525">
            <a:solidFill>
              <a:srgbClr val="D6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"/>
          <p:cNvSpPr txBox="1"/>
          <p:nvPr/>
        </p:nvSpPr>
        <p:spPr>
          <a:xfrm>
            <a:off x="6659118" y="3099816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B12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E07B12"/>
                </a:solidFill>
                <a:latin typeface="Arial"/>
                <a:ea typeface="Arial"/>
                <a:cs typeface="Arial"/>
                <a:sym typeface="Arial"/>
              </a:rPr>
              <a:t>PREDICTED SALARY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 txBox="1"/>
          <p:nvPr/>
        </p:nvSpPr>
        <p:spPr>
          <a:xfrm>
            <a:off x="6659118" y="3236976"/>
            <a:ext cx="156362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₹22.4 LPA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 txBox="1"/>
          <p:nvPr/>
        </p:nvSpPr>
        <p:spPr>
          <a:xfrm>
            <a:off x="6659118" y="3442716"/>
            <a:ext cx="1563624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band ₹19.8L – ₹25.1L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 txBox="1"/>
          <p:nvPr/>
        </p:nvSpPr>
        <p:spPr>
          <a:xfrm>
            <a:off x="6576822" y="3717036"/>
            <a:ext cx="1728216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B12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E07B12"/>
                </a:solidFill>
                <a:latin typeface="Arial"/>
                <a:ea typeface="Arial"/>
                <a:cs typeface="Arial"/>
                <a:sym typeface="Arial"/>
              </a:rPr>
              <a:t>RISING IN YOUR CITY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6576822" y="3888486"/>
            <a:ext cx="857250" cy="192024"/>
          </a:xfrm>
          <a:prstGeom prst="roundRect">
            <a:avLst>
              <a:gd fmla="val 21429" name="adj"/>
            </a:avLst>
          </a:prstGeom>
          <a:solidFill>
            <a:srgbClr val="FFFFFF"/>
          </a:solidFill>
          <a:ln cap="flat" cmpd="sng" w="9525">
            <a:solidFill>
              <a:srgbClr val="D6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"/>
          <p:cNvSpPr txBox="1"/>
          <p:nvPr/>
        </p:nvSpPr>
        <p:spPr>
          <a:xfrm>
            <a:off x="6576822" y="3888486"/>
            <a:ext cx="85725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600"/>
              <a:buFont typeface="Calibri"/>
              <a:buNone/>
            </a:pPr>
            <a:r>
              <a:rPr b="1" i="0" lang="en" sz="600" u="none" cap="none" strike="noStrike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LangChain ↑340%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7488936" y="3888486"/>
            <a:ext cx="720090" cy="192024"/>
          </a:xfrm>
          <a:prstGeom prst="roundRect">
            <a:avLst>
              <a:gd fmla="val 21429" name="adj"/>
            </a:avLst>
          </a:prstGeom>
          <a:solidFill>
            <a:srgbClr val="FFFFFF"/>
          </a:solidFill>
          <a:ln cap="flat" cmpd="sng" w="9525">
            <a:solidFill>
              <a:srgbClr val="D6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"/>
          <p:cNvSpPr txBox="1"/>
          <p:nvPr/>
        </p:nvSpPr>
        <p:spPr>
          <a:xfrm>
            <a:off x="7488936" y="3888486"/>
            <a:ext cx="72009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600"/>
              <a:buFont typeface="Calibri"/>
              <a:buNone/>
            </a:pPr>
            <a:r>
              <a:rPr b="1" i="0" lang="en" sz="600" u="none" cap="none" strike="noStrike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MLOps ↑89%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 txBox="1"/>
          <p:nvPr/>
        </p:nvSpPr>
        <p:spPr>
          <a:xfrm>
            <a:off x="6412230" y="4766310"/>
            <a:ext cx="2057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700"/>
              <a:buFont typeface="Calibri"/>
              <a:buNone/>
            </a:pPr>
            <a:r>
              <a:rPr b="0" i="1" lang="en" sz="700" u="none" cap="none" strike="noStrike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Prototype screen · sample data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" name="Google Shape;47;p3"/>
          <p:cNvPicPr preferRelativeResize="0"/>
          <p:nvPr/>
        </p:nvPicPr>
        <p:blipFill rotWithShape="1">
          <a:blip r:embed="rId4">
            <a:alphaModFix/>
          </a:blip>
          <a:srcRect b="18969" l="8265" r="0" t="0"/>
          <a:stretch/>
        </p:blipFill>
        <p:spPr>
          <a:xfrm>
            <a:off x="425200" y="119998"/>
            <a:ext cx="1097274" cy="32235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r="14100000" dist="19050">
              <a:srgbClr val="000000">
                <a:alpha val="48000"/>
              </a:srgbClr>
            </a:outerShdw>
          </a:effectLst>
        </p:spPr>
      </p:pic>
      <p:sp>
        <p:nvSpPr>
          <p:cNvPr id="48" name="Google Shape;48;p3"/>
          <p:cNvSpPr txBox="1"/>
          <p:nvPr/>
        </p:nvSpPr>
        <p:spPr>
          <a:xfrm>
            <a:off x="0" y="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49" name="Google Shape;49;p3"/>
          <p:cNvSpPr txBox="1"/>
          <p:nvPr/>
        </p:nvSpPr>
        <p:spPr>
          <a:xfrm>
            <a:off x="493825" y="4423400"/>
            <a:ext cx="4304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Live architecture demo– </a:t>
            </a:r>
            <a:r>
              <a:rPr b="1" lang="en" sz="1100" u="sng">
                <a:solidFill>
                  <a:schemeClr val="hlink"/>
                </a:solidFill>
                <a:hlinkClick r:id="rId5"/>
              </a:rPr>
              <a:t>yrxkush.github.io/Vriddhi</a:t>
            </a:r>
            <a:endParaRPr b="1" sz="1100">
              <a:solidFill>
                <a:schemeClr val="accent1"/>
              </a:solidFill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425134" y="4566048"/>
            <a:ext cx="68700" cy="68700"/>
          </a:xfrm>
          <a:prstGeom prst="ellipse">
            <a:avLst/>
          </a:prstGeom>
          <a:solidFill>
            <a:srgbClr val="E07B12"/>
          </a:solidFill>
          <a:ln cap="flat" cmpd="sng" w="12700">
            <a:solidFill>
              <a:srgbClr val="E07B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/>
          <p:nvPr/>
        </p:nvSpPr>
        <p:spPr>
          <a:xfrm>
            <a:off x="7255764" y="246888"/>
            <a:ext cx="1543050" cy="219456"/>
          </a:xfrm>
          <a:prstGeom prst="roundRect">
            <a:avLst>
              <a:gd fmla="val 25000" name="adj"/>
            </a:avLst>
          </a:prstGeom>
          <a:solidFill>
            <a:srgbClr val="FDF1E4"/>
          </a:solidFill>
          <a:ln cap="flat" cmpd="sng" w="9525">
            <a:solidFill>
              <a:srgbClr val="E07B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 txBox="1"/>
          <p:nvPr/>
        </p:nvSpPr>
        <p:spPr>
          <a:xfrm>
            <a:off x="7255764" y="246888"/>
            <a:ext cx="154305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7B12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E07B12"/>
                </a:solidFill>
                <a:latin typeface="Arial"/>
                <a:ea typeface="Arial"/>
                <a:cs typeface="Arial"/>
                <a:sym typeface="Arial"/>
              </a:rPr>
              <a:t>BUILD FOR BHARAT 2.0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 txBox="1"/>
          <p:nvPr/>
        </p:nvSpPr>
        <p:spPr>
          <a:xfrm>
            <a:off x="1851660" y="164592"/>
            <a:ext cx="543839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100"/>
              <a:buFont typeface="Cambria"/>
              <a:buNone/>
            </a:pPr>
            <a:r>
              <a:rPr b="1" i="0" lang="en" sz="21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THE PROBLEM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 txBox="1"/>
          <p:nvPr/>
        </p:nvSpPr>
        <p:spPr>
          <a:xfrm>
            <a:off x="1028700" y="576072"/>
            <a:ext cx="708431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1100"/>
              <a:buFont typeface="Calibri"/>
              <a:buNone/>
            </a:pPr>
            <a:r>
              <a:rPr b="0" i="1" lang="en" sz="1100" u="none" cap="none" strike="noStrike">
                <a:solidFill>
                  <a:srgbClr val="2F5597"/>
                </a:solidFill>
                <a:latin typeface="Calibri"/>
                <a:ea typeface="Calibri"/>
                <a:cs typeface="Calibri"/>
                <a:sym typeface="Calibri"/>
              </a:rPr>
              <a:t>“1.5 million engineers graduate every year. Nobody tells them which skills the market will actually pay for.”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 txBox="1"/>
          <p:nvPr/>
        </p:nvSpPr>
        <p:spPr>
          <a:xfrm>
            <a:off x="342900" y="4855464"/>
            <a:ext cx="41148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700"/>
              <a:buFont typeface="Calibri"/>
              <a:buNone/>
            </a:pPr>
            <a:r>
              <a:rPr lang="en" sz="700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Vriddhi</a:t>
            </a:r>
            <a:r>
              <a:rPr b="0" i="0" lang="en" sz="700" u="none" cap="none" strike="noStrike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  ·  Workforce Intelligence for Bharat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 txBox="1"/>
          <p:nvPr/>
        </p:nvSpPr>
        <p:spPr>
          <a:xfrm>
            <a:off x="8455914" y="4855464"/>
            <a:ext cx="3429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 txBox="1"/>
          <p:nvPr/>
        </p:nvSpPr>
        <p:spPr>
          <a:xfrm>
            <a:off x="342900" y="96012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THE GROUND REALITY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342900" y="1234440"/>
            <a:ext cx="4183380" cy="1028700"/>
          </a:xfrm>
          <a:prstGeom prst="roundRect">
            <a:avLst>
              <a:gd fmla="val 5333" name="adj"/>
            </a:avLst>
          </a:prstGeom>
          <a:solidFill>
            <a:srgbClr val="F1F4F9"/>
          </a:solidFill>
          <a:ln cap="flat" cmpd="sng" w="9525">
            <a:solidFill>
              <a:srgbClr val="D6DC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00000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 txBox="1"/>
          <p:nvPr/>
        </p:nvSpPr>
        <p:spPr>
          <a:xfrm>
            <a:off x="480060" y="1234440"/>
            <a:ext cx="130302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600"/>
              <a:buFont typeface="Cambria"/>
              <a:buNone/>
            </a:pPr>
            <a:r>
              <a:rPr b="1" i="0" lang="en" sz="26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1.5M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1851660" y="1371600"/>
            <a:ext cx="257175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Engineers graduate every year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 txBox="1"/>
          <p:nvPr/>
        </p:nvSpPr>
        <p:spPr>
          <a:xfrm>
            <a:off x="1851660" y="1591056"/>
            <a:ext cx="2571750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Only ~10% were expected to land jobs in FY25.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 txBox="1"/>
          <p:nvPr/>
        </p:nvSpPr>
        <p:spPr>
          <a:xfrm>
            <a:off x="1851660" y="1988820"/>
            <a:ext cx="2571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700"/>
              <a:buFont typeface="Calibri"/>
              <a:buNone/>
            </a:pPr>
            <a:r>
              <a:rPr b="0" i="1" lang="en" sz="700" u="none" cap="none" strike="noStrike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Source: TeamLease via Business Standard, Sep 2024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342900" y="2400300"/>
            <a:ext cx="4183380" cy="1028700"/>
          </a:xfrm>
          <a:prstGeom prst="roundRect">
            <a:avLst>
              <a:gd fmla="val 5333" name="adj"/>
            </a:avLst>
          </a:prstGeom>
          <a:solidFill>
            <a:srgbClr val="F1F4F9"/>
          </a:solidFill>
          <a:ln cap="flat" cmpd="sng" w="9525">
            <a:solidFill>
              <a:srgbClr val="D6DC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00000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 txBox="1"/>
          <p:nvPr/>
        </p:nvSpPr>
        <p:spPr>
          <a:xfrm>
            <a:off x="480060" y="2400300"/>
            <a:ext cx="130302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2318"/>
              </a:buClr>
              <a:buSzPts val="2600"/>
              <a:buFont typeface="Cambria"/>
              <a:buNone/>
            </a:pPr>
            <a:r>
              <a:rPr b="1" i="0" lang="en" sz="2600" u="none" cap="none" strike="noStrike">
                <a:solidFill>
                  <a:srgbClr val="B42318"/>
                </a:solidFill>
                <a:latin typeface="Cambria"/>
                <a:ea typeface="Cambria"/>
                <a:cs typeface="Cambria"/>
                <a:sym typeface="Cambria"/>
              </a:rPr>
              <a:t>44%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 txBox="1"/>
          <p:nvPr/>
        </p:nvSpPr>
        <p:spPr>
          <a:xfrm>
            <a:off x="1851660" y="2537460"/>
            <a:ext cx="257175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Of graduates are still not job-ready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 txBox="1"/>
          <p:nvPr/>
        </p:nvSpPr>
        <p:spPr>
          <a:xfrm>
            <a:off x="1851660" y="2756916"/>
            <a:ext cx="2571750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National employability is 56.35% — the other 44% lack the skills employers want.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 txBox="1"/>
          <p:nvPr/>
        </p:nvSpPr>
        <p:spPr>
          <a:xfrm>
            <a:off x="1851660" y="3154680"/>
            <a:ext cx="2571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700"/>
              <a:buFont typeface="Calibri"/>
              <a:buNone/>
            </a:pPr>
            <a:r>
              <a:rPr b="0" i="1" lang="en" sz="700" u="none" cap="none" strike="noStrike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Source: India Skills Report 2026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342900" y="3566160"/>
            <a:ext cx="4183380" cy="1028700"/>
          </a:xfrm>
          <a:prstGeom prst="roundRect">
            <a:avLst>
              <a:gd fmla="val 5333" name="adj"/>
            </a:avLst>
          </a:prstGeom>
          <a:solidFill>
            <a:srgbClr val="F1F4F9"/>
          </a:solidFill>
          <a:ln cap="flat" cmpd="sng" w="9525">
            <a:solidFill>
              <a:srgbClr val="D6DC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00000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 txBox="1"/>
          <p:nvPr/>
        </p:nvSpPr>
        <p:spPr>
          <a:xfrm>
            <a:off x="480060" y="3566160"/>
            <a:ext cx="130302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B12"/>
              </a:buClr>
              <a:buSzPts val="2600"/>
              <a:buFont typeface="Cambria"/>
              <a:buNone/>
            </a:pPr>
            <a:r>
              <a:rPr b="1" i="0" lang="en" sz="2600" u="none" cap="none" strike="noStrike">
                <a:solidFill>
                  <a:srgbClr val="E07B12"/>
                </a:solidFill>
                <a:latin typeface="Cambria"/>
                <a:ea typeface="Cambria"/>
                <a:cs typeface="Cambria"/>
                <a:sym typeface="Cambria"/>
              </a:rPr>
              <a:t>63/100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 txBox="1"/>
          <p:nvPr/>
        </p:nvSpPr>
        <p:spPr>
          <a:xfrm>
            <a:off x="1851660" y="3703320"/>
            <a:ext cx="257175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Indian workers need retraining by 2030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 txBox="1"/>
          <p:nvPr/>
        </p:nvSpPr>
        <p:spPr>
          <a:xfrm>
            <a:off x="1851660" y="3922776"/>
            <a:ext cx="2571750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~70 million may never get it — they don’t know what to learn.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 txBox="1"/>
          <p:nvPr/>
        </p:nvSpPr>
        <p:spPr>
          <a:xfrm>
            <a:off x="1851660" y="4320540"/>
            <a:ext cx="2571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700"/>
              <a:buFont typeface="Calibri"/>
              <a:buNone/>
            </a:pPr>
            <a:r>
              <a:rPr b="0" i="1" lang="en" sz="700" u="none" cap="none" strike="noStrike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Source: WEF Future of Jobs 2025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 txBox="1"/>
          <p:nvPr/>
        </p:nvSpPr>
        <p:spPr>
          <a:xfrm>
            <a:off x="4732020" y="960120"/>
            <a:ext cx="40462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EMPLOYABILITY IS CLIMBING — TOO SLOWLY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" name="Google Shape;7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2020" y="1200150"/>
            <a:ext cx="4066794" cy="174879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4"/>
          <p:cNvSpPr txBox="1"/>
          <p:nvPr/>
        </p:nvSpPr>
        <p:spPr>
          <a:xfrm>
            <a:off x="4732020" y="2935224"/>
            <a:ext cx="406679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+10 pts in four years. ~44% of each batch still exits college without job-ready skills.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 txBox="1"/>
          <p:nvPr/>
        </p:nvSpPr>
        <p:spPr>
          <a:xfrm>
            <a:off x="4732020" y="3168396"/>
            <a:ext cx="40462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THE BROKEN SIGNAL TRIANGLE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732020" y="3415284"/>
            <a:ext cx="1296162" cy="1268730"/>
          </a:xfrm>
          <a:prstGeom prst="roundRect">
            <a:avLst>
              <a:gd fmla="val 4324" name="adj"/>
            </a:avLst>
          </a:prstGeom>
          <a:solidFill>
            <a:srgbClr val="F1F4F9"/>
          </a:solidFill>
          <a:ln cap="flat" cmpd="sng" w="9525">
            <a:solidFill>
              <a:srgbClr val="D6DC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00000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4828032" y="3497580"/>
            <a:ext cx="288036" cy="288036"/>
          </a:xfrm>
          <a:prstGeom prst="ellipse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4" name="Google Shape;8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02921" y="3572469"/>
            <a:ext cx="138257" cy="138257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4"/>
          <p:cNvSpPr txBox="1"/>
          <p:nvPr/>
        </p:nvSpPr>
        <p:spPr>
          <a:xfrm>
            <a:off x="5170932" y="3497580"/>
            <a:ext cx="82296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Student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 txBox="1"/>
          <p:nvPr/>
        </p:nvSpPr>
        <p:spPr>
          <a:xfrm>
            <a:off x="4828032" y="3840480"/>
            <a:ext cx="113157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800"/>
              <a:buFont typeface="Calibri"/>
              <a:buNone/>
            </a:pPr>
            <a:r>
              <a:rPr b="1" i="1" lang="en" sz="800" u="none" cap="none" strike="noStrike">
                <a:solidFill>
                  <a:srgbClr val="2F5597"/>
                </a:solidFill>
                <a:latin typeface="Calibri"/>
                <a:ea typeface="Calibri"/>
                <a:cs typeface="Calibri"/>
                <a:sym typeface="Calibri"/>
              </a:rPr>
              <a:t>“What should I learn next?”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 txBox="1"/>
          <p:nvPr/>
        </p:nvSpPr>
        <p:spPr>
          <a:xfrm>
            <a:off x="4828032" y="4197096"/>
            <a:ext cx="113157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2318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B42318"/>
                </a:solidFill>
                <a:latin typeface="Calibri"/>
                <a:ea typeface="Calibri"/>
                <a:cs typeface="Calibri"/>
                <a:sym typeface="Calibri"/>
              </a:rPr>
              <a:t>Today: YouTube advice &amp; seniors’ anecdotes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6117336" y="3415284"/>
            <a:ext cx="1296162" cy="1268730"/>
          </a:xfrm>
          <a:prstGeom prst="roundRect">
            <a:avLst>
              <a:gd fmla="val 4324" name="adj"/>
            </a:avLst>
          </a:prstGeom>
          <a:solidFill>
            <a:srgbClr val="F1F4F9"/>
          </a:solidFill>
          <a:ln cap="flat" cmpd="sng" w="9525">
            <a:solidFill>
              <a:srgbClr val="D6DC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00000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6213348" y="3497580"/>
            <a:ext cx="288036" cy="288036"/>
          </a:xfrm>
          <a:prstGeom prst="ellipse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0" name="Google Shape;90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8237" y="3572469"/>
            <a:ext cx="138257" cy="13825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4"/>
          <p:cNvSpPr txBox="1"/>
          <p:nvPr/>
        </p:nvSpPr>
        <p:spPr>
          <a:xfrm>
            <a:off x="6556248" y="3497580"/>
            <a:ext cx="82296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Recruiter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 txBox="1"/>
          <p:nvPr/>
        </p:nvSpPr>
        <p:spPr>
          <a:xfrm>
            <a:off x="6213348" y="3840480"/>
            <a:ext cx="113157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800"/>
              <a:buFont typeface="Calibri"/>
              <a:buNone/>
            </a:pPr>
            <a:r>
              <a:rPr b="1" i="1" lang="en" sz="800" u="none" cap="none" strike="noStrike">
                <a:solidFill>
                  <a:srgbClr val="2F5597"/>
                </a:solidFill>
                <a:latin typeface="Calibri"/>
                <a:ea typeface="Calibri"/>
                <a:cs typeface="Calibri"/>
                <a:sym typeface="Calibri"/>
              </a:rPr>
              <a:t>“Which skills are rising?”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 txBox="1"/>
          <p:nvPr/>
        </p:nvSpPr>
        <p:spPr>
          <a:xfrm>
            <a:off x="6213348" y="4197096"/>
            <a:ext cx="113157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2318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B42318"/>
                </a:solidFill>
                <a:latin typeface="Calibri"/>
                <a:ea typeface="Calibri"/>
                <a:cs typeface="Calibri"/>
                <a:sym typeface="Calibri"/>
              </a:rPr>
              <a:t>Today: lagging annual reports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7502652" y="3415284"/>
            <a:ext cx="1296162" cy="1268730"/>
          </a:xfrm>
          <a:prstGeom prst="roundRect">
            <a:avLst>
              <a:gd fmla="val 4324" name="adj"/>
            </a:avLst>
          </a:prstGeom>
          <a:solidFill>
            <a:srgbClr val="F1F4F9"/>
          </a:solidFill>
          <a:ln cap="flat" cmpd="sng" w="9525">
            <a:solidFill>
              <a:srgbClr val="D6DC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00000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7598664" y="3497580"/>
            <a:ext cx="288036" cy="288036"/>
          </a:xfrm>
          <a:prstGeom prst="ellipse">
            <a:avLst/>
          </a:prstGeom>
          <a:solidFill>
            <a:srgbClr val="E07B12"/>
          </a:solidFill>
          <a:ln cap="flat" cmpd="sng" w="12700">
            <a:solidFill>
              <a:srgbClr val="E07B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6" name="Google Shape;96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73553" y="3572469"/>
            <a:ext cx="138257" cy="138257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4"/>
          <p:cNvSpPr txBox="1"/>
          <p:nvPr/>
        </p:nvSpPr>
        <p:spPr>
          <a:xfrm>
            <a:off x="7941564" y="3497580"/>
            <a:ext cx="82296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University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 txBox="1"/>
          <p:nvPr/>
        </p:nvSpPr>
        <p:spPr>
          <a:xfrm>
            <a:off x="7598664" y="3840480"/>
            <a:ext cx="113157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800"/>
              <a:buFont typeface="Calibri"/>
              <a:buNone/>
            </a:pPr>
            <a:r>
              <a:rPr b="1" i="1" lang="en" sz="800" u="none" cap="none" strike="noStrike">
                <a:solidFill>
                  <a:srgbClr val="2F5597"/>
                </a:solidFill>
                <a:latin typeface="Calibri"/>
                <a:ea typeface="Calibri"/>
                <a:cs typeface="Calibri"/>
                <a:sym typeface="Calibri"/>
              </a:rPr>
              <a:t>“Is our syllabus current?”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 txBox="1"/>
          <p:nvPr/>
        </p:nvSpPr>
        <p:spPr>
          <a:xfrm>
            <a:off x="7598664" y="4197096"/>
            <a:ext cx="113157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2318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B42318"/>
                </a:solidFill>
                <a:latin typeface="Calibri"/>
                <a:ea typeface="Calibri"/>
                <a:cs typeface="Calibri"/>
                <a:sym typeface="Calibri"/>
              </a:rPr>
              <a:t>Today: multi-year revision cycles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4"/>
          <p:cNvPicPr preferRelativeResize="0"/>
          <p:nvPr/>
        </p:nvPicPr>
        <p:blipFill rotWithShape="1">
          <a:blip r:embed="rId7">
            <a:alphaModFix/>
          </a:blip>
          <a:srcRect b="18969" l="8265" r="0" t="0"/>
          <a:stretch/>
        </p:blipFill>
        <p:spPr>
          <a:xfrm>
            <a:off x="342897" y="116548"/>
            <a:ext cx="1097274" cy="32235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r="14100000" dist="19050">
              <a:srgbClr val="000000">
                <a:alpha val="48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"/>
          <p:cNvSpPr/>
          <p:nvPr/>
        </p:nvSpPr>
        <p:spPr>
          <a:xfrm>
            <a:off x="7255764" y="246888"/>
            <a:ext cx="1543050" cy="219456"/>
          </a:xfrm>
          <a:prstGeom prst="roundRect">
            <a:avLst>
              <a:gd fmla="val 25000" name="adj"/>
            </a:avLst>
          </a:prstGeom>
          <a:solidFill>
            <a:srgbClr val="FDF1E4"/>
          </a:solidFill>
          <a:ln cap="flat" cmpd="sng" w="9525">
            <a:solidFill>
              <a:srgbClr val="E07B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 txBox="1"/>
          <p:nvPr/>
        </p:nvSpPr>
        <p:spPr>
          <a:xfrm>
            <a:off x="7255764" y="246888"/>
            <a:ext cx="154305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7B12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E07B12"/>
                </a:solidFill>
                <a:latin typeface="Arial"/>
                <a:ea typeface="Arial"/>
                <a:cs typeface="Arial"/>
                <a:sym typeface="Arial"/>
              </a:rPr>
              <a:t>BUILD FOR BHARAT 2.0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 txBox="1"/>
          <p:nvPr/>
        </p:nvSpPr>
        <p:spPr>
          <a:xfrm>
            <a:off x="1851660" y="164592"/>
            <a:ext cx="543839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100"/>
              <a:buFont typeface="Cambria"/>
              <a:buNone/>
            </a:pPr>
            <a:r>
              <a:rPr b="1" i="0" lang="en" sz="21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WHY EXISTING TOOLS FAIL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 txBox="1"/>
          <p:nvPr/>
        </p:nvSpPr>
        <p:spPr>
          <a:xfrm>
            <a:off x="1028700" y="576072"/>
            <a:ext cx="708431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1100"/>
              <a:buFont typeface="Calibri"/>
              <a:buNone/>
            </a:pPr>
            <a:r>
              <a:rPr b="0" i="1" lang="en" sz="1100" u="none" cap="none" strike="noStrike">
                <a:solidFill>
                  <a:srgbClr val="2F5597"/>
                </a:solidFill>
                <a:latin typeface="Calibri"/>
                <a:ea typeface="Calibri"/>
                <a:cs typeface="Calibri"/>
                <a:sym typeface="Calibri"/>
              </a:rPr>
              <a:t>“Job portals show listings. Chatbots guess. Nobody prices a skill.”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 txBox="1"/>
          <p:nvPr/>
        </p:nvSpPr>
        <p:spPr>
          <a:xfrm>
            <a:off x="342900" y="4855464"/>
            <a:ext cx="41148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700"/>
              <a:buFont typeface="Calibri"/>
              <a:buNone/>
            </a:pPr>
            <a:r>
              <a:rPr lang="en" sz="700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Vriddhi</a:t>
            </a:r>
            <a:r>
              <a:rPr b="0" i="0" lang="en" sz="700" u="none" cap="none" strike="noStrike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  ·  Workforce Intelligencefor Bharat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 txBox="1"/>
          <p:nvPr/>
        </p:nvSpPr>
        <p:spPr>
          <a:xfrm>
            <a:off x="8455914" y="4855464"/>
            <a:ext cx="3429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 txBox="1"/>
          <p:nvPr/>
        </p:nvSpPr>
        <p:spPr>
          <a:xfrm>
            <a:off x="342900" y="960120"/>
            <a:ext cx="82296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PROPOSED SOLUTION — WHY NOT JUST USE NAUKRI, LINKEDIN OR CHATGPT?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3" name="Google Shape;113;p5"/>
          <p:cNvGraphicFramePr/>
          <p:nvPr/>
        </p:nvGraphicFramePr>
        <p:xfrm>
          <a:off x="342900" y="1234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{14A76909-1354-41D0-A7A0-E654AC0BD8A4}</a:tableStyleId>
              </a:tblPr>
              <a:tblGrid>
                <a:gridCol w="1885950"/>
                <a:gridCol w="1611625"/>
                <a:gridCol w="1543050"/>
                <a:gridCol w="1508750"/>
                <a:gridCol w="1906500"/>
              </a:tblGrid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Capability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Job Portals (Naukri / LinkedIn)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Generic AI Chatbots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Govt Skill Portals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Vriddhi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Salary impact of a single skill (₹)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A5B06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9A5B0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  Salary range per posting only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2318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B423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  Unsourced guesses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2318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B423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  Not available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803D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1580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  ML-predicted + SHAP-explained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C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Rising vs dying skill forecast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2318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B423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  Today’s snapshot only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2318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B423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  Frozen at training cut-off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2318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B423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  Annual reports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803D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1580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  6-month ARIMA forecast by role &amp; city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C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Personal gap analysis + ranked ROI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A5B06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9A5B0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  Keyword match to jobs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A5B06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9A5B0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  Generic, not your resume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2318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B423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  Not available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803D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1580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  Match % + ranked gaps with ₹ impact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C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Curriculum audit for colleges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2318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B423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  Not available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2318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B423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  Not available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A5B06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9A5B0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  Framework docs, no scoring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803D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1580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  Course-by-course alignment + PDF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C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Answers grounded in Indian data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A5B06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9A5B0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  Listings only, no reasoning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2318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B423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  Hallucination-prone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A5B06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9A5B0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  Static content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803D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1580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  Agentic RAG over our own pipeline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C"/>
                    </a:solidFill>
                  </a:tcPr>
                </a:tc>
              </a:tr>
            </a:tbl>
          </a:graphicData>
        </a:graphic>
      </p:graphicFrame>
      <p:sp>
        <p:nvSpPr>
          <p:cNvPr id="114" name="Google Shape;114;p5"/>
          <p:cNvSpPr/>
          <p:nvPr/>
        </p:nvSpPr>
        <p:spPr>
          <a:xfrm>
            <a:off x="342900" y="3703320"/>
            <a:ext cx="5177790" cy="973836"/>
          </a:xfrm>
          <a:prstGeom prst="roundRect">
            <a:avLst>
              <a:gd fmla="val 5634" name="adj"/>
            </a:avLst>
          </a:prstGeom>
          <a:solidFill>
            <a:srgbClr val="E8F5EC"/>
          </a:solidFill>
          <a:ln cap="flat" cmpd="sng" w="9525">
            <a:solidFill>
              <a:srgbClr val="15803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00000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 txBox="1"/>
          <p:nvPr/>
        </p:nvSpPr>
        <p:spPr>
          <a:xfrm>
            <a:off x="493776" y="3771900"/>
            <a:ext cx="3429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KEY INNOVATION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 txBox="1"/>
          <p:nvPr/>
        </p:nvSpPr>
        <p:spPr>
          <a:xfrm>
            <a:off x="493776" y="3977640"/>
            <a:ext cx="490347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We put a rupee value on every skill. Every recommendation carries three numbers — match gain for your target role, salary impact in ₹, and the skill’s demand trend in your city — computed from one shared Indian skill graph, not from an LLM’s memory.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5692140" y="3703320"/>
            <a:ext cx="3106674" cy="973836"/>
          </a:xfrm>
          <a:prstGeom prst="roundRect">
            <a:avLst>
              <a:gd fmla="val 5634" name="adj"/>
            </a:avLst>
          </a:prstGeom>
          <a:solidFill>
            <a:srgbClr val="1B2A4A"/>
          </a:solidFill>
          <a:ln cap="flat" cmpd="sng" w="9525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00000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 txBox="1"/>
          <p:nvPr/>
        </p:nvSpPr>
        <p:spPr>
          <a:xfrm>
            <a:off x="5843016" y="3771900"/>
            <a:ext cx="2743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B26B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6B26B"/>
                </a:solidFill>
                <a:latin typeface="Arial"/>
                <a:ea typeface="Arial"/>
                <a:cs typeface="Arial"/>
                <a:sym typeface="Arial"/>
              </a:rPr>
              <a:t>THE ONE QUESTION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 txBox="1"/>
          <p:nvPr/>
        </p:nvSpPr>
        <p:spPr>
          <a:xfrm>
            <a:off x="5843016" y="3963924"/>
            <a:ext cx="281178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b="1" i="1" lang="en" sz="1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“What should I learn next — and what will it be worth?”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5"/>
          <p:cNvPicPr preferRelativeResize="0"/>
          <p:nvPr/>
        </p:nvPicPr>
        <p:blipFill rotWithShape="1">
          <a:blip r:embed="rId3">
            <a:alphaModFix/>
          </a:blip>
          <a:srcRect b="18969" l="8265" r="0" t="0"/>
          <a:stretch/>
        </p:blipFill>
        <p:spPr>
          <a:xfrm>
            <a:off x="342900" y="116548"/>
            <a:ext cx="1097274" cy="32235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r="14100000" dist="19050">
              <a:srgbClr val="000000">
                <a:alpha val="48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/>
          <p:nvPr/>
        </p:nvSpPr>
        <p:spPr>
          <a:xfrm>
            <a:off x="7255764" y="246888"/>
            <a:ext cx="1543050" cy="219456"/>
          </a:xfrm>
          <a:prstGeom prst="roundRect">
            <a:avLst>
              <a:gd fmla="val 25000" name="adj"/>
            </a:avLst>
          </a:prstGeom>
          <a:solidFill>
            <a:srgbClr val="FDF1E4"/>
          </a:solidFill>
          <a:ln cap="flat" cmpd="sng" w="9525">
            <a:solidFill>
              <a:srgbClr val="E07B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 txBox="1"/>
          <p:nvPr/>
        </p:nvSpPr>
        <p:spPr>
          <a:xfrm>
            <a:off x="7255764" y="246888"/>
            <a:ext cx="154305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7B12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E07B12"/>
                </a:solidFill>
                <a:latin typeface="Arial"/>
                <a:ea typeface="Arial"/>
                <a:cs typeface="Arial"/>
                <a:sym typeface="Arial"/>
              </a:rPr>
              <a:t>BUILD FOR BHARAT 2.0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 txBox="1"/>
          <p:nvPr/>
        </p:nvSpPr>
        <p:spPr>
          <a:xfrm>
            <a:off x="1851660" y="164592"/>
            <a:ext cx="543839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100"/>
              <a:buFont typeface="Cambria"/>
              <a:buNone/>
            </a:pPr>
            <a:r>
              <a:rPr b="1" i="0" lang="en" sz="21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TECHNICAL APPROACH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 txBox="1"/>
          <p:nvPr/>
        </p:nvSpPr>
        <p:spPr>
          <a:xfrm>
            <a:off x="1028700" y="576072"/>
            <a:ext cx="708431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1100"/>
              <a:buFont typeface="Calibri"/>
              <a:buNone/>
            </a:pPr>
            <a:r>
              <a:rPr b="0" i="1" lang="en" sz="1100" u="none" cap="none" strike="noStrike">
                <a:solidFill>
                  <a:srgbClr val="2F5597"/>
                </a:solidFill>
                <a:latin typeface="Calibri"/>
                <a:ea typeface="Calibri"/>
                <a:cs typeface="Calibri"/>
                <a:sym typeface="Calibri"/>
              </a:rPr>
              <a:t>“One extract_skills() engine, applied to four data sources, powers every module.”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 txBox="1"/>
          <p:nvPr/>
        </p:nvSpPr>
        <p:spPr>
          <a:xfrm>
            <a:off x="342900" y="4855464"/>
            <a:ext cx="41148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700"/>
              <a:buFont typeface="Calibri"/>
              <a:buNone/>
            </a:pPr>
            <a:r>
              <a:rPr lang="en" sz="700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Vriddhi</a:t>
            </a:r>
            <a:r>
              <a:rPr b="0" i="0" lang="en" sz="700" u="none" cap="none" strike="noStrike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  ·  Workforce Intelligence for Bharat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 txBox="1"/>
          <p:nvPr/>
        </p:nvSpPr>
        <p:spPr>
          <a:xfrm>
            <a:off x="8455914" y="4855464"/>
            <a:ext cx="3429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342900" y="994410"/>
            <a:ext cx="1954530" cy="2948940"/>
          </a:xfrm>
          <a:prstGeom prst="roundRect">
            <a:avLst>
              <a:gd fmla="val 2807" name="adj"/>
            </a:avLst>
          </a:prstGeom>
          <a:solidFill>
            <a:srgbClr val="F1F4F9"/>
          </a:solidFill>
          <a:ln cap="flat" cmpd="sng" w="9525">
            <a:solidFill>
              <a:srgbClr val="D6DC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00000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466344" y="1131570"/>
            <a:ext cx="288036" cy="288036"/>
          </a:xfrm>
          <a:prstGeom prst="ellipse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 txBox="1"/>
          <p:nvPr/>
        </p:nvSpPr>
        <p:spPr>
          <a:xfrm>
            <a:off x="466344" y="1131570"/>
            <a:ext cx="288036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 txBox="1"/>
          <p:nvPr/>
        </p:nvSpPr>
        <p:spPr>
          <a:xfrm>
            <a:off x="822960" y="1117854"/>
            <a:ext cx="140589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Data Ingestion &amp; ETL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 txBox="1"/>
          <p:nvPr/>
        </p:nvSpPr>
        <p:spPr>
          <a:xfrm>
            <a:off x="480060" y="1577340"/>
            <a:ext cx="171450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Naukri postings: </a:t>
            </a: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15,000+ listings — role, skills, city, pay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LinkedIn &amp; Glassdoor: </a:t>
            </a: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salary benchmarks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NSDC &amp; NASSCOM: </a:t>
            </a: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national skill frameworks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IIT / NIT syllabi + resumes </a:t>
            </a: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→ raw MongoDB with source provenance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480060" y="3634740"/>
            <a:ext cx="432054" cy="192024"/>
          </a:xfrm>
          <a:prstGeom prst="roundRect">
            <a:avLst>
              <a:gd fmla="val 21429" name="adj"/>
            </a:avLst>
          </a:prstGeom>
          <a:solidFill>
            <a:srgbClr val="FFFFFF"/>
          </a:solidFill>
          <a:ln cap="flat" cmpd="sng" w="9525">
            <a:solidFill>
              <a:srgbClr val="D6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"/>
          <p:cNvSpPr txBox="1"/>
          <p:nvPr/>
        </p:nvSpPr>
        <p:spPr>
          <a:xfrm>
            <a:off x="480060" y="3634740"/>
            <a:ext cx="432054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600"/>
              <a:buFont typeface="Calibri"/>
              <a:buNone/>
            </a:pPr>
            <a:r>
              <a:rPr b="1" i="0" lang="en" sz="6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pandas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966978" y="3634740"/>
            <a:ext cx="483489" cy="192024"/>
          </a:xfrm>
          <a:prstGeom prst="roundRect">
            <a:avLst>
              <a:gd fmla="val 21429" name="adj"/>
            </a:avLst>
          </a:prstGeom>
          <a:solidFill>
            <a:srgbClr val="FFFFFF"/>
          </a:solidFill>
          <a:ln cap="flat" cmpd="sng" w="9525">
            <a:solidFill>
              <a:srgbClr val="D6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"/>
          <p:cNvSpPr txBox="1"/>
          <p:nvPr/>
        </p:nvSpPr>
        <p:spPr>
          <a:xfrm>
            <a:off x="966978" y="3634740"/>
            <a:ext cx="483489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600"/>
              <a:buFont typeface="Calibri"/>
              <a:buNone/>
            </a:pPr>
            <a:r>
              <a:rPr b="1" i="0" lang="en" sz="6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MongoDB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 txBox="1"/>
          <p:nvPr/>
        </p:nvSpPr>
        <p:spPr>
          <a:xfrm>
            <a:off x="2297430" y="2297430"/>
            <a:ext cx="212598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7B12"/>
              </a:buClr>
              <a:buSzPts val="1500"/>
              <a:buFont typeface="Calibri"/>
              <a:buNone/>
            </a:pPr>
            <a:r>
              <a:rPr b="1" i="0" lang="en" sz="1500" u="none" cap="none" strike="noStrike">
                <a:solidFill>
                  <a:srgbClr val="E07B1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2510028" y="994410"/>
            <a:ext cx="1954530" cy="2948940"/>
          </a:xfrm>
          <a:prstGeom prst="roundRect">
            <a:avLst>
              <a:gd fmla="val 2807" name="adj"/>
            </a:avLst>
          </a:prstGeom>
          <a:solidFill>
            <a:srgbClr val="F1F4F9"/>
          </a:solidFill>
          <a:ln cap="flat" cmpd="sng" w="9525">
            <a:solidFill>
              <a:srgbClr val="D6DC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00000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2633472" y="1131570"/>
            <a:ext cx="288036" cy="288036"/>
          </a:xfrm>
          <a:prstGeom prst="ellipse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 txBox="1"/>
          <p:nvPr/>
        </p:nvSpPr>
        <p:spPr>
          <a:xfrm>
            <a:off x="2633472" y="1131570"/>
            <a:ext cx="288036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 txBox="1"/>
          <p:nvPr/>
        </p:nvSpPr>
        <p:spPr>
          <a:xfrm>
            <a:off x="2990088" y="1117854"/>
            <a:ext cx="140589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NLP &amp; Skill Ontology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 txBox="1"/>
          <p:nvPr/>
        </p:nvSpPr>
        <p:spPr>
          <a:xfrm>
            <a:off x="2647188" y="1577340"/>
            <a:ext cx="171450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Vriddhi</a:t>
            </a:r>
            <a:r>
              <a:rPr b="1" i="0" lang="en" sz="9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-NER: </a:t>
            </a: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our fine-tuned skill extractor + ESCO dictionary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0F766E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Normalization: </a:t>
            </a: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“ML”, “M.L.” → Machine Learning (ESCO)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0F766E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MiniLM-L6-v2: </a:t>
            </a: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text → 384-d vectors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0F766E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ChromaDB: </a:t>
            </a: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1,200+ embedded knowledge chunks for RAG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2647188" y="3634740"/>
            <a:ext cx="637794" cy="192024"/>
          </a:xfrm>
          <a:prstGeom prst="roundRect">
            <a:avLst>
              <a:gd fmla="val 21429" name="adj"/>
            </a:avLst>
          </a:prstGeom>
          <a:solidFill>
            <a:srgbClr val="FFFFFF"/>
          </a:solidFill>
          <a:ln cap="flat" cmpd="sng" w="9525">
            <a:solidFill>
              <a:srgbClr val="D6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"/>
          <p:cNvSpPr txBox="1"/>
          <p:nvPr/>
        </p:nvSpPr>
        <p:spPr>
          <a:xfrm>
            <a:off x="2647188" y="3634740"/>
            <a:ext cx="637794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600"/>
              <a:buFont typeface="Calibri"/>
              <a:buNone/>
            </a:pPr>
            <a:r>
              <a:rPr b="1" i="0" lang="en" sz="6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Custom NER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3339846" y="3634740"/>
            <a:ext cx="329184" cy="192024"/>
          </a:xfrm>
          <a:prstGeom prst="roundRect">
            <a:avLst>
              <a:gd fmla="val 21429" name="adj"/>
            </a:avLst>
          </a:prstGeom>
          <a:solidFill>
            <a:srgbClr val="FFFFFF"/>
          </a:solidFill>
          <a:ln cap="flat" cmpd="sng" w="9525">
            <a:solidFill>
              <a:srgbClr val="D6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"/>
          <p:cNvSpPr txBox="1"/>
          <p:nvPr/>
        </p:nvSpPr>
        <p:spPr>
          <a:xfrm>
            <a:off x="3339846" y="3634740"/>
            <a:ext cx="329184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600"/>
              <a:buFont typeface="Calibri"/>
              <a:buNone/>
            </a:pPr>
            <a:r>
              <a:rPr b="1" i="0" lang="en" sz="6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ESCO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3723894" y="3634740"/>
            <a:ext cx="534924" cy="192024"/>
          </a:xfrm>
          <a:prstGeom prst="roundRect">
            <a:avLst>
              <a:gd fmla="val 21429" name="adj"/>
            </a:avLst>
          </a:prstGeom>
          <a:solidFill>
            <a:srgbClr val="FFFFFF"/>
          </a:solidFill>
          <a:ln cap="flat" cmpd="sng" w="9525">
            <a:solidFill>
              <a:srgbClr val="D6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"/>
          <p:cNvSpPr txBox="1"/>
          <p:nvPr/>
        </p:nvSpPr>
        <p:spPr>
          <a:xfrm>
            <a:off x="3723894" y="3634740"/>
            <a:ext cx="534924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600"/>
              <a:buFont typeface="Calibri"/>
              <a:buNone/>
            </a:pPr>
            <a:r>
              <a:rPr b="1" i="0" lang="en" sz="6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ChromaDB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 txBox="1"/>
          <p:nvPr/>
        </p:nvSpPr>
        <p:spPr>
          <a:xfrm>
            <a:off x="4464558" y="2297430"/>
            <a:ext cx="212598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7B12"/>
              </a:buClr>
              <a:buSzPts val="1500"/>
              <a:buFont typeface="Calibri"/>
              <a:buNone/>
            </a:pPr>
            <a:r>
              <a:rPr b="1" i="0" lang="en" sz="1500" u="none" cap="none" strike="noStrike">
                <a:solidFill>
                  <a:srgbClr val="E07B1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4677156" y="994410"/>
            <a:ext cx="1954530" cy="2948940"/>
          </a:xfrm>
          <a:prstGeom prst="roundRect">
            <a:avLst>
              <a:gd fmla="val 2807" name="adj"/>
            </a:avLst>
          </a:prstGeom>
          <a:solidFill>
            <a:srgbClr val="F1F4F9"/>
          </a:solidFill>
          <a:ln cap="flat" cmpd="sng" w="9525">
            <a:solidFill>
              <a:srgbClr val="D6DC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00000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4800600" y="1131570"/>
            <a:ext cx="288036" cy="288036"/>
          </a:xfrm>
          <a:prstGeom prst="ellipse">
            <a:avLst/>
          </a:prstGeom>
          <a:solidFill>
            <a:srgbClr val="E07B12"/>
          </a:solidFill>
          <a:ln cap="flat" cmpd="sng" w="12700">
            <a:solidFill>
              <a:srgbClr val="E07B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"/>
          <p:cNvSpPr txBox="1"/>
          <p:nvPr/>
        </p:nvSpPr>
        <p:spPr>
          <a:xfrm>
            <a:off x="4800600" y="1131570"/>
            <a:ext cx="288036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 txBox="1"/>
          <p:nvPr/>
        </p:nvSpPr>
        <p:spPr>
          <a:xfrm>
            <a:off x="5157216" y="1117854"/>
            <a:ext cx="140589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Intelligence &amp; ML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 txBox="1"/>
          <p:nvPr/>
        </p:nvSpPr>
        <p:spPr>
          <a:xfrm>
            <a:off x="4814316" y="1577340"/>
            <a:ext cx="171450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B12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E07B12"/>
                </a:solidFill>
                <a:latin typeface="Calibri"/>
                <a:ea typeface="Calibri"/>
                <a:cs typeface="Calibri"/>
                <a:sym typeface="Calibri"/>
              </a:rPr>
              <a:t>SkillRadar: </a:t>
            </a: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ARIMA demand forecast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E07B12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E07B12"/>
                </a:solidFill>
                <a:latin typeface="Calibri"/>
                <a:ea typeface="Calibri"/>
                <a:cs typeface="Calibri"/>
                <a:sym typeface="Calibri"/>
              </a:rPr>
              <a:t>TalentMatch: </a:t>
            </a: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cosine-similarity gap engine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E07B12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E07B12"/>
                </a:solidFill>
                <a:latin typeface="Calibri"/>
                <a:ea typeface="Calibri"/>
                <a:cs typeface="Calibri"/>
                <a:sym typeface="Calibri"/>
              </a:rPr>
              <a:t>CompIntel: </a:t>
            </a: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RF + XGBoost + GBM salary ensemble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E07B12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E07B12"/>
                </a:solidFill>
                <a:latin typeface="Calibri"/>
                <a:ea typeface="Calibri"/>
                <a:cs typeface="Calibri"/>
                <a:sym typeface="Calibri"/>
              </a:rPr>
              <a:t>CurriculumSync: </a:t>
            </a: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syllabus-vs-market scorer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E07B12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E07B12"/>
                </a:solidFill>
                <a:latin typeface="Calibri"/>
                <a:ea typeface="Calibri"/>
                <a:cs typeface="Calibri"/>
                <a:sym typeface="Calibri"/>
              </a:rPr>
              <a:t>Knowledge graph </a:t>
            </a: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+ MLflow tracking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4814316" y="3634740"/>
            <a:ext cx="483489" cy="192024"/>
          </a:xfrm>
          <a:prstGeom prst="roundRect">
            <a:avLst>
              <a:gd fmla="val 21429" name="adj"/>
            </a:avLst>
          </a:prstGeom>
          <a:solidFill>
            <a:srgbClr val="FFFFFF"/>
          </a:solidFill>
          <a:ln cap="flat" cmpd="sng" w="9525">
            <a:solidFill>
              <a:srgbClr val="D6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"/>
          <p:cNvSpPr txBox="1"/>
          <p:nvPr/>
        </p:nvSpPr>
        <p:spPr>
          <a:xfrm>
            <a:off x="4814316" y="3634740"/>
            <a:ext cx="483489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7B12"/>
              </a:buClr>
              <a:buSzPts val="600"/>
              <a:buFont typeface="Calibri"/>
              <a:buNone/>
            </a:pPr>
            <a:r>
              <a:rPr b="1" i="0" lang="en" sz="600" u="none" cap="none" strike="noStrike">
                <a:solidFill>
                  <a:srgbClr val="E07B12"/>
                </a:solidFill>
                <a:latin typeface="Calibri"/>
                <a:ea typeface="Calibri"/>
                <a:cs typeface="Calibri"/>
                <a:sym typeface="Calibri"/>
              </a:rPr>
              <a:t>sklearn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5352669" y="3634740"/>
            <a:ext cx="483489" cy="192024"/>
          </a:xfrm>
          <a:prstGeom prst="roundRect">
            <a:avLst>
              <a:gd fmla="val 21429" name="adj"/>
            </a:avLst>
          </a:prstGeom>
          <a:solidFill>
            <a:srgbClr val="FFFFFF"/>
          </a:solidFill>
          <a:ln cap="flat" cmpd="sng" w="9525">
            <a:solidFill>
              <a:srgbClr val="D6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 txBox="1"/>
          <p:nvPr/>
        </p:nvSpPr>
        <p:spPr>
          <a:xfrm>
            <a:off x="5352669" y="3634740"/>
            <a:ext cx="483489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7B12"/>
              </a:buClr>
              <a:buSzPts val="600"/>
              <a:buFont typeface="Calibri"/>
              <a:buNone/>
            </a:pPr>
            <a:r>
              <a:rPr b="1" i="0" lang="en" sz="600" u="none" cap="none" strike="noStrike">
                <a:solidFill>
                  <a:srgbClr val="E07B12"/>
                </a:solidFill>
                <a:latin typeface="Calibri"/>
                <a:ea typeface="Calibri"/>
                <a:cs typeface="Calibri"/>
                <a:sym typeface="Calibri"/>
              </a:rPr>
              <a:t>XGBoost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5891022" y="3634740"/>
            <a:ext cx="329184" cy="192024"/>
          </a:xfrm>
          <a:prstGeom prst="roundRect">
            <a:avLst>
              <a:gd fmla="val 21429" name="adj"/>
            </a:avLst>
          </a:prstGeom>
          <a:solidFill>
            <a:srgbClr val="FFFFFF"/>
          </a:solidFill>
          <a:ln cap="flat" cmpd="sng" w="9525">
            <a:solidFill>
              <a:srgbClr val="D6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 txBox="1"/>
          <p:nvPr/>
        </p:nvSpPr>
        <p:spPr>
          <a:xfrm>
            <a:off x="5891022" y="3634740"/>
            <a:ext cx="329184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7B12"/>
              </a:buClr>
              <a:buSzPts val="600"/>
              <a:buFont typeface="Calibri"/>
              <a:buNone/>
            </a:pPr>
            <a:r>
              <a:rPr b="1" i="0" lang="en" sz="600" u="none" cap="none" strike="noStrike">
                <a:solidFill>
                  <a:srgbClr val="E07B12"/>
                </a:solidFill>
                <a:latin typeface="Calibri"/>
                <a:ea typeface="Calibri"/>
                <a:cs typeface="Calibri"/>
                <a:sym typeface="Calibri"/>
              </a:rPr>
              <a:t>SHAP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 txBox="1"/>
          <p:nvPr/>
        </p:nvSpPr>
        <p:spPr>
          <a:xfrm>
            <a:off x="6631686" y="2297430"/>
            <a:ext cx="212598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7B12"/>
              </a:buClr>
              <a:buSzPts val="1500"/>
              <a:buFont typeface="Calibri"/>
              <a:buNone/>
            </a:pPr>
            <a:r>
              <a:rPr b="1" i="0" lang="en" sz="1500" u="none" cap="none" strike="noStrike">
                <a:solidFill>
                  <a:srgbClr val="E07B1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6844284" y="994410"/>
            <a:ext cx="1954530" cy="2948940"/>
          </a:xfrm>
          <a:prstGeom prst="roundRect">
            <a:avLst>
              <a:gd fmla="val 2807" name="adj"/>
            </a:avLst>
          </a:prstGeom>
          <a:solidFill>
            <a:srgbClr val="F1F4F9"/>
          </a:solidFill>
          <a:ln cap="flat" cmpd="sng" w="9525">
            <a:solidFill>
              <a:srgbClr val="D6DC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00000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6967728" y="1131570"/>
            <a:ext cx="288036" cy="288036"/>
          </a:xfrm>
          <a:prstGeom prst="ellipse">
            <a:avLst/>
          </a:prstGeom>
          <a:solidFill>
            <a:srgbClr val="2F5597"/>
          </a:solidFill>
          <a:ln cap="flat" cmpd="sng" w="12700">
            <a:solidFill>
              <a:srgbClr val="2F55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 txBox="1"/>
          <p:nvPr/>
        </p:nvSpPr>
        <p:spPr>
          <a:xfrm>
            <a:off x="6967728" y="1131570"/>
            <a:ext cx="288036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 txBox="1"/>
          <p:nvPr/>
        </p:nvSpPr>
        <p:spPr>
          <a:xfrm>
            <a:off x="7324344" y="1117854"/>
            <a:ext cx="140589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Agentic AI &amp; Delivery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 txBox="1"/>
          <p:nvPr/>
        </p:nvSpPr>
        <p:spPr>
          <a:xfrm>
            <a:off x="6981444" y="1577340"/>
            <a:ext cx="171450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2F5597"/>
                </a:solidFill>
                <a:latin typeface="Calibri"/>
                <a:ea typeface="Calibri"/>
                <a:cs typeface="Calibri"/>
                <a:sym typeface="Calibri"/>
              </a:rPr>
              <a:t>Vriddhi-Counselor: </a:t>
            </a:r>
            <a:r>
              <a:rPr lang="en" sz="9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agentic reasoning engine tool calls route each query to the right module</a:t>
            </a:r>
            <a:endParaRPr b="0" i="0" sz="900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2F5597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2F5597"/>
                </a:solidFill>
                <a:latin typeface="Calibri"/>
                <a:ea typeface="Calibri"/>
                <a:cs typeface="Calibri"/>
                <a:sym typeface="Calibri"/>
              </a:rPr>
              <a:t>RAG over ChromaDB: </a:t>
            </a: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grounded, cited answers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2F5597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2F5597"/>
                </a:solidFill>
                <a:latin typeface="Calibri"/>
                <a:ea typeface="Calibri"/>
                <a:cs typeface="Calibri"/>
                <a:sym typeface="Calibri"/>
              </a:rPr>
              <a:t>Streamlit </a:t>
            </a: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multi-page dashboard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2F5597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2F5597"/>
                </a:solidFill>
                <a:latin typeface="Calibri"/>
                <a:ea typeface="Calibri"/>
                <a:cs typeface="Calibri"/>
                <a:sym typeface="Calibri"/>
              </a:rPr>
              <a:t>FastAPI: </a:t>
            </a: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10+ endpoints, OpenAPI docs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6981444" y="3634740"/>
            <a:ext cx="586359" cy="192024"/>
          </a:xfrm>
          <a:prstGeom prst="roundRect">
            <a:avLst>
              <a:gd fmla="val 21429" name="adj"/>
            </a:avLst>
          </a:prstGeom>
          <a:solidFill>
            <a:srgbClr val="FFFFFF"/>
          </a:solidFill>
          <a:ln cap="flat" cmpd="sng" w="9525">
            <a:solidFill>
              <a:srgbClr val="D6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"/>
          <p:cNvSpPr txBox="1"/>
          <p:nvPr/>
        </p:nvSpPr>
        <p:spPr>
          <a:xfrm>
            <a:off x="6981444" y="3634740"/>
            <a:ext cx="586359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600"/>
              <a:buFont typeface="Calibri"/>
              <a:buNone/>
            </a:pPr>
            <a:r>
              <a:rPr b="1" lang="en" sz="600">
                <a:solidFill>
                  <a:srgbClr val="2F5597"/>
                </a:solidFill>
                <a:latin typeface="Calibri"/>
                <a:ea typeface="Calibri"/>
                <a:cs typeface="Calibri"/>
                <a:sym typeface="Calibri"/>
              </a:rPr>
              <a:t>Vriddhi-Counselor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7622667" y="3634740"/>
            <a:ext cx="483489" cy="192024"/>
          </a:xfrm>
          <a:prstGeom prst="roundRect">
            <a:avLst>
              <a:gd fmla="val 21429" name="adj"/>
            </a:avLst>
          </a:prstGeom>
          <a:solidFill>
            <a:srgbClr val="FFFFFF"/>
          </a:solidFill>
          <a:ln cap="flat" cmpd="sng" w="9525">
            <a:solidFill>
              <a:srgbClr val="D6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 txBox="1"/>
          <p:nvPr/>
        </p:nvSpPr>
        <p:spPr>
          <a:xfrm>
            <a:off x="7622667" y="3634740"/>
            <a:ext cx="483489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600"/>
              <a:buFont typeface="Calibri"/>
              <a:buNone/>
            </a:pPr>
            <a:r>
              <a:rPr b="1" i="0" lang="en" sz="600" u="none" cap="none" strike="noStrike">
                <a:solidFill>
                  <a:srgbClr val="2F5597"/>
                </a:solidFill>
                <a:latin typeface="Calibri"/>
                <a:ea typeface="Calibri"/>
                <a:cs typeface="Calibri"/>
                <a:sym typeface="Calibri"/>
              </a:rPr>
              <a:t>FastAPI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8161020" y="3634740"/>
            <a:ext cx="586359" cy="192024"/>
          </a:xfrm>
          <a:prstGeom prst="roundRect">
            <a:avLst>
              <a:gd fmla="val 21429" name="adj"/>
            </a:avLst>
          </a:prstGeom>
          <a:solidFill>
            <a:srgbClr val="FFFFFF"/>
          </a:solidFill>
          <a:ln cap="flat" cmpd="sng" w="9525">
            <a:solidFill>
              <a:srgbClr val="D6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"/>
          <p:cNvSpPr txBox="1"/>
          <p:nvPr/>
        </p:nvSpPr>
        <p:spPr>
          <a:xfrm>
            <a:off x="8161020" y="3634740"/>
            <a:ext cx="586359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600"/>
              <a:buFont typeface="Calibri"/>
              <a:buNone/>
            </a:pPr>
            <a:r>
              <a:rPr b="1" i="0" lang="en" sz="600" u="none" cap="none" strike="noStrike">
                <a:solidFill>
                  <a:srgbClr val="2F5597"/>
                </a:solidFill>
                <a:latin typeface="Calibri"/>
                <a:ea typeface="Calibri"/>
                <a:cs typeface="Calibri"/>
                <a:sym typeface="Calibri"/>
              </a:rPr>
              <a:t>Streamlit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 txBox="1"/>
          <p:nvPr/>
        </p:nvSpPr>
        <p:spPr>
          <a:xfrm>
            <a:off x="342900" y="4059936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DATA CONTRACT BETWEEN LAYERS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342900" y="4286250"/>
            <a:ext cx="1954530" cy="445770"/>
          </a:xfrm>
          <a:prstGeom prst="roundRect">
            <a:avLst>
              <a:gd fmla="val 9231" name="adj"/>
            </a:avLst>
          </a:prstGeom>
          <a:solidFill>
            <a:srgbClr val="F7F9FC"/>
          </a:solidFill>
          <a:ln cap="flat" cmpd="sng" w="12700">
            <a:solidFill>
              <a:srgbClr val="D6DCE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"/>
          <p:cNvSpPr txBox="1"/>
          <p:nvPr/>
        </p:nvSpPr>
        <p:spPr>
          <a:xfrm>
            <a:off x="411480" y="4286250"/>
            <a:ext cx="1817370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700"/>
              <a:buFont typeface="Courier New"/>
              <a:buNone/>
            </a:pPr>
            <a:r>
              <a:rPr b="0" i="0" lang="en" sz="700" u="none" cap="none" strike="noStrike">
                <a:solidFill>
                  <a:srgbClr val="1B2A4A"/>
                </a:solidFill>
                <a:latin typeface="Courier New"/>
                <a:ea typeface="Courier New"/>
                <a:cs typeface="Courier New"/>
                <a:sym typeface="Courier New"/>
              </a:rPr>
              <a:t>raw_postings · raw_salaries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700"/>
              <a:buFont typeface="Courier New"/>
              <a:buNone/>
            </a:pPr>
            <a:r>
              <a:rPr b="0" i="0" lang="en" sz="700" u="none" cap="none" strike="noStrike">
                <a:solidFill>
                  <a:srgbClr val="1B2A4A"/>
                </a:solidFill>
                <a:latin typeface="Courier New"/>
                <a:ea typeface="Courier New"/>
                <a:cs typeface="Courier New"/>
                <a:sym typeface="Courier New"/>
              </a:rPr>
              <a:t>raw_syllabi · raw_resumes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2510028" y="4286250"/>
            <a:ext cx="1954530" cy="445770"/>
          </a:xfrm>
          <a:prstGeom prst="roundRect">
            <a:avLst>
              <a:gd fmla="val 9231" name="adj"/>
            </a:avLst>
          </a:prstGeom>
          <a:solidFill>
            <a:srgbClr val="F7F9FC"/>
          </a:solidFill>
          <a:ln cap="flat" cmpd="sng" w="12700">
            <a:solidFill>
              <a:srgbClr val="D6DCE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"/>
          <p:cNvSpPr txBox="1"/>
          <p:nvPr/>
        </p:nvSpPr>
        <p:spPr>
          <a:xfrm>
            <a:off x="2578608" y="4286250"/>
            <a:ext cx="1817370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700"/>
              <a:buFont typeface="Courier New"/>
              <a:buNone/>
            </a:pPr>
            <a:r>
              <a:rPr b="0" i="0" lang="en" sz="700" u="none" cap="none" strike="noStrike">
                <a:solidFill>
                  <a:srgbClr val="1B2A4A"/>
                </a:solidFill>
                <a:latin typeface="Courier New"/>
                <a:ea typeface="Courier New"/>
                <a:cs typeface="Courier New"/>
                <a:sym typeface="Courier New"/>
              </a:rPr>
              <a:t>processed_postings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700"/>
              <a:buFont typeface="Courier New"/>
              <a:buNone/>
            </a:pPr>
            <a:r>
              <a:rPr b="0" i="0" lang="en" sz="700" u="none" cap="none" strike="noStrike">
                <a:solidFill>
                  <a:srgbClr val="1B2A4A"/>
                </a:solidFill>
                <a:latin typeface="Courier New"/>
                <a:ea typeface="Courier New"/>
                <a:cs typeface="Courier New"/>
                <a:sym typeface="Courier New"/>
              </a:rPr>
              <a:t>+ </a:t>
            </a:r>
            <a:r>
              <a:rPr lang="en" sz="700">
                <a:solidFill>
                  <a:srgbClr val="1B2A4A"/>
                </a:solidFill>
                <a:latin typeface="Courier New"/>
                <a:ea typeface="Courier New"/>
                <a:cs typeface="Courier New"/>
                <a:sym typeface="Courier New"/>
              </a:rPr>
              <a:t>Vriddhi</a:t>
            </a:r>
            <a:r>
              <a:rPr b="0" i="0" lang="en" sz="700" u="none" cap="none" strike="noStrike">
                <a:solidFill>
                  <a:srgbClr val="1B2A4A"/>
                </a:solidFill>
                <a:latin typeface="Courier New"/>
                <a:ea typeface="Courier New"/>
                <a:cs typeface="Courier New"/>
                <a:sym typeface="Courier New"/>
              </a:rPr>
              <a:t>_knowledge vectors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4677156" y="4286250"/>
            <a:ext cx="1954530" cy="445770"/>
          </a:xfrm>
          <a:prstGeom prst="roundRect">
            <a:avLst>
              <a:gd fmla="val 9231" name="adj"/>
            </a:avLst>
          </a:prstGeom>
          <a:solidFill>
            <a:srgbClr val="F7F9FC"/>
          </a:solidFill>
          <a:ln cap="flat" cmpd="sng" w="12700">
            <a:solidFill>
              <a:srgbClr val="D6DCE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6"/>
          <p:cNvSpPr txBox="1"/>
          <p:nvPr/>
        </p:nvSpPr>
        <p:spPr>
          <a:xfrm>
            <a:off x="4745736" y="4286250"/>
            <a:ext cx="1817370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700"/>
              <a:buFont typeface="Courier New"/>
              <a:buNone/>
            </a:pPr>
            <a:r>
              <a:rPr b="0" i="0" lang="en" sz="700" u="none" cap="none" strike="noStrike">
                <a:solidFill>
                  <a:srgbClr val="1B2A4A"/>
                </a:solidFill>
                <a:latin typeface="Courier New"/>
                <a:ea typeface="Courier New"/>
                <a:cs typeface="Courier New"/>
                <a:sym typeface="Courier New"/>
              </a:rPr>
              <a:t>trends · match scores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700"/>
              <a:buFont typeface="Courier New"/>
              <a:buNone/>
            </a:pPr>
            <a:r>
              <a:rPr b="0" i="0" lang="en" sz="700" u="none" cap="none" strike="noStrike">
                <a:solidFill>
                  <a:srgbClr val="1B2A4A"/>
                </a:solidFill>
                <a:latin typeface="Courier New"/>
                <a:ea typeface="Courier New"/>
                <a:cs typeface="Courier New"/>
                <a:sym typeface="Courier New"/>
              </a:rPr>
              <a:t>salary predictions · reports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6844284" y="4286250"/>
            <a:ext cx="1954530" cy="445770"/>
          </a:xfrm>
          <a:prstGeom prst="roundRect">
            <a:avLst>
              <a:gd fmla="val 9231" name="adj"/>
            </a:avLst>
          </a:prstGeom>
          <a:solidFill>
            <a:srgbClr val="F7F9FC"/>
          </a:solidFill>
          <a:ln cap="flat" cmpd="sng" w="12700">
            <a:solidFill>
              <a:srgbClr val="D6DCE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6"/>
          <p:cNvSpPr txBox="1"/>
          <p:nvPr/>
        </p:nvSpPr>
        <p:spPr>
          <a:xfrm>
            <a:off x="6912864" y="4286250"/>
            <a:ext cx="1817370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700"/>
              <a:buFont typeface="Courier New"/>
              <a:buNone/>
            </a:pPr>
            <a:r>
              <a:rPr b="0" i="0" lang="en" sz="700" u="none" cap="none" strike="noStrike">
                <a:solidFill>
                  <a:srgbClr val="1B2A4A"/>
                </a:solidFill>
                <a:latin typeface="Courier New"/>
                <a:ea typeface="Courier New"/>
                <a:cs typeface="Courier New"/>
                <a:sym typeface="Courier New"/>
              </a:rPr>
              <a:t>/api/v1/*  ·  /chat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700"/>
              <a:buFont typeface="Courier New"/>
              <a:buNone/>
            </a:pPr>
            <a:r>
              <a:rPr b="0" i="0" lang="en" sz="700" u="none" cap="none" strike="noStrike">
                <a:solidFill>
                  <a:srgbClr val="1B2A4A"/>
                </a:solidFill>
                <a:latin typeface="Courier New"/>
                <a:ea typeface="Courier New"/>
                <a:cs typeface="Courier New"/>
                <a:sym typeface="Courier New"/>
              </a:rPr>
              <a:t>Streamlit  ·  PDF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" name="Google Shape;186;p6"/>
          <p:cNvPicPr preferRelativeResize="0"/>
          <p:nvPr/>
        </p:nvPicPr>
        <p:blipFill rotWithShape="1">
          <a:blip r:embed="rId3">
            <a:alphaModFix/>
          </a:blip>
          <a:srcRect b="18969" l="8265" r="0" t="0"/>
          <a:stretch/>
        </p:blipFill>
        <p:spPr>
          <a:xfrm>
            <a:off x="342889" y="253723"/>
            <a:ext cx="1097274" cy="32235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r="14100000" dist="19050">
              <a:srgbClr val="000000">
                <a:alpha val="48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"/>
          <p:cNvSpPr/>
          <p:nvPr/>
        </p:nvSpPr>
        <p:spPr>
          <a:xfrm>
            <a:off x="7255764" y="246888"/>
            <a:ext cx="1543200" cy="219600"/>
          </a:xfrm>
          <a:prstGeom prst="roundRect">
            <a:avLst>
              <a:gd fmla="val 25000" name="adj"/>
            </a:avLst>
          </a:prstGeom>
          <a:solidFill>
            <a:srgbClr val="FDF1E4"/>
          </a:solidFill>
          <a:ln cap="flat" cmpd="sng" w="9525">
            <a:solidFill>
              <a:srgbClr val="E07B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"/>
          <p:cNvSpPr txBox="1"/>
          <p:nvPr/>
        </p:nvSpPr>
        <p:spPr>
          <a:xfrm>
            <a:off x="7255764" y="246888"/>
            <a:ext cx="1543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7B12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E07B12"/>
                </a:solidFill>
                <a:latin typeface="Arial"/>
                <a:ea typeface="Arial"/>
                <a:cs typeface="Arial"/>
                <a:sym typeface="Arial"/>
              </a:rPr>
              <a:t>BUILD FOR BHARAT 2.0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 txBox="1"/>
          <p:nvPr/>
        </p:nvSpPr>
        <p:spPr>
          <a:xfrm>
            <a:off x="1738497" y="150742"/>
            <a:ext cx="5438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100"/>
              <a:buFont typeface="Cambria"/>
              <a:buNone/>
            </a:pPr>
            <a:r>
              <a:rPr b="1" lang="en" sz="2100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OUR ML PIPELINE — BUILT FROM SCRATCH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 txBox="1"/>
          <p:nvPr/>
        </p:nvSpPr>
        <p:spPr>
          <a:xfrm>
            <a:off x="915538" y="576072"/>
            <a:ext cx="70842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1100"/>
              <a:buFont typeface="Calibri"/>
              <a:buNone/>
            </a:pPr>
            <a:r>
              <a:rPr i="1" lang="en" sz="1100">
                <a:solidFill>
                  <a:srgbClr val="2F5597"/>
                </a:solidFill>
                <a:latin typeface="Calibri"/>
                <a:ea typeface="Calibri"/>
                <a:cs typeface="Calibri"/>
                <a:sym typeface="Calibri"/>
              </a:rPr>
              <a:t>“Every ML model is trained on Indian data by our team. Open-source stack, zero licensing cost.”</a:t>
            </a:r>
            <a:endParaRPr b="0" i="1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 txBox="1"/>
          <p:nvPr/>
        </p:nvSpPr>
        <p:spPr>
          <a:xfrm>
            <a:off x="342900" y="4855464"/>
            <a:ext cx="41148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700"/>
              <a:buFont typeface="Calibri"/>
              <a:buNone/>
            </a:pPr>
            <a:r>
              <a:rPr lang="en" sz="700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Vriddhi</a:t>
            </a:r>
            <a:r>
              <a:rPr b="0" i="0" lang="en" sz="700" u="none" cap="none" strike="noStrike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  ·  Workforce Intelligence for Bharat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 txBox="1"/>
          <p:nvPr/>
        </p:nvSpPr>
        <p:spPr>
          <a:xfrm>
            <a:off x="8455914" y="4855464"/>
            <a:ext cx="342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 txBox="1"/>
          <p:nvPr/>
        </p:nvSpPr>
        <p:spPr>
          <a:xfrm>
            <a:off x="342900" y="946404"/>
            <a:ext cx="5212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SKILL EXTRACTION — WORKED EXAMPLE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342900" y="1200150"/>
            <a:ext cx="1577400" cy="1611600"/>
          </a:xfrm>
          <a:prstGeom prst="roundRect">
            <a:avLst>
              <a:gd fmla="val 3478" name="adj"/>
            </a:avLst>
          </a:prstGeom>
          <a:solidFill>
            <a:srgbClr val="FFFFFF"/>
          </a:solidFill>
          <a:ln cap="flat" cmpd="sng" w="9525">
            <a:solidFill>
              <a:srgbClr val="D6DC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00000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"/>
          <p:cNvSpPr txBox="1"/>
          <p:nvPr/>
        </p:nvSpPr>
        <p:spPr>
          <a:xfrm>
            <a:off x="445770" y="1268730"/>
            <a:ext cx="13716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B12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E07B12"/>
                </a:solidFill>
                <a:latin typeface="Arial"/>
                <a:ea typeface="Arial"/>
                <a:cs typeface="Arial"/>
                <a:sym typeface="Arial"/>
              </a:rPr>
              <a:t>RAW JOB POSTING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 txBox="1"/>
          <p:nvPr/>
        </p:nvSpPr>
        <p:spPr>
          <a:xfrm>
            <a:off x="445770" y="1440180"/>
            <a:ext cx="13716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“Looking for a senior engineer with experience in Python, TensorFlow, ML pipelines, A/B testing, SQL and Apache Spark. Strong statistical analysis a must.”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 txBox="1"/>
          <p:nvPr/>
        </p:nvSpPr>
        <p:spPr>
          <a:xfrm>
            <a:off x="445770" y="2592324"/>
            <a:ext cx="14058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Naukri · Bengaluru · ₹18–28 LPA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 txBox="1"/>
          <p:nvPr/>
        </p:nvSpPr>
        <p:spPr>
          <a:xfrm>
            <a:off x="1920240" y="1831086"/>
            <a:ext cx="219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7B12"/>
              </a:buClr>
              <a:buSzPts val="1500"/>
              <a:buFont typeface="Calibri"/>
              <a:buNone/>
            </a:pPr>
            <a:r>
              <a:rPr b="1" i="0" lang="en" sz="1500" u="none" cap="none" strike="noStrike">
                <a:solidFill>
                  <a:srgbClr val="E07B1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2139696" y="1200150"/>
            <a:ext cx="1748700" cy="1611600"/>
          </a:xfrm>
          <a:prstGeom prst="roundRect">
            <a:avLst>
              <a:gd fmla="val 3404" name="adj"/>
            </a:avLst>
          </a:prstGeom>
          <a:solidFill>
            <a:srgbClr val="F1F4F9"/>
          </a:solidFill>
          <a:ln cap="flat" cmpd="sng" w="9525">
            <a:solidFill>
              <a:srgbClr val="D6DC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00000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7"/>
          <p:cNvSpPr txBox="1"/>
          <p:nvPr/>
        </p:nvSpPr>
        <p:spPr>
          <a:xfrm>
            <a:off x="2242566" y="1268730"/>
            <a:ext cx="15774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PASS 1 · ESCO DICTIONARY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2242566" y="1453896"/>
            <a:ext cx="720000" cy="185100"/>
          </a:xfrm>
          <a:prstGeom prst="roundRect">
            <a:avLst>
              <a:gd fmla="val 22222" name="adj"/>
            </a:avLst>
          </a:prstGeom>
          <a:solidFill>
            <a:srgbClr val="FFFFFF"/>
          </a:solidFill>
          <a:ln cap="flat" cmpd="sng" w="9525">
            <a:solidFill>
              <a:srgbClr val="D6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"/>
          <p:cNvSpPr txBox="1"/>
          <p:nvPr/>
        </p:nvSpPr>
        <p:spPr>
          <a:xfrm>
            <a:off x="2242566" y="1453896"/>
            <a:ext cx="7200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600"/>
              <a:buFont typeface="Calibri"/>
              <a:buNone/>
            </a:pPr>
            <a:r>
              <a:rPr b="1" i="0" lang="en" sz="6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3010662" y="1453896"/>
            <a:ext cx="720000" cy="185100"/>
          </a:xfrm>
          <a:prstGeom prst="roundRect">
            <a:avLst>
              <a:gd fmla="val 22222" name="adj"/>
            </a:avLst>
          </a:prstGeom>
          <a:solidFill>
            <a:srgbClr val="FFFFFF"/>
          </a:solidFill>
          <a:ln cap="flat" cmpd="sng" w="9525">
            <a:solidFill>
              <a:srgbClr val="D6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7"/>
          <p:cNvSpPr txBox="1"/>
          <p:nvPr/>
        </p:nvSpPr>
        <p:spPr>
          <a:xfrm>
            <a:off x="3010662" y="1453896"/>
            <a:ext cx="7200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600"/>
              <a:buFont typeface="Calibri"/>
              <a:buNone/>
            </a:pPr>
            <a:r>
              <a:rPr b="1" i="0" lang="en" sz="6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TensorFlow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2242566" y="1687068"/>
            <a:ext cx="720000" cy="185100"/>
          </a:xfrm>
          <a:prstGeom prst="roundRect">
            <a:avLst>
              <a:gd fmla="val 22222" name="adj"/>
            </a:avLst>
          </a:prstGeom>
          <a:solidFill>
            <a:srgbClr val="FFFFFF"/>
          </a:solidFill>
          <a:ln cap="flat" cmpd="sng" w="9525">
            <a:solidFill>
              <a:srgbClr val="D6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"/>
          <p:cNvSpPr txBox="1"/>
          <p:nvPr/>
        </p:nvSpPr>
        <p:spPr>
          <a:xfrm>
            <a:off x="2242566" y="1687068"/>
            <a:ext cx="7200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600"/>
              <a:buFont typeface="Calibri"/>
              <a:buNone/>
            </a:pPr>
            <a:r>
              <a:rPr b="1" i="0" lang="en" sz="6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SQL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3010662" y="1687068"/>
            <a:ext cx="720000" cy="185100"/>
          </a:xfrm>
          <a:prstGeom prst="roundRect">
            <a:avLst>
              <a:gd fmla="val 22222" name="adj"/>
            </a:avLst>
          </a:prstGeom>
          <a:solidFill>
            <a:srgbClr val="FFFFFF"/>
          </a:solidFill>
          <a:ln cap="flat" cmpd="sng" w="9525">
            <a:solidFill>
              <a:srgbClr val="D6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"/>
          <p:cNvSpPr txBox="1"/>
          <p:nvPr/>
        </p:nvSpPr>
        <p:spPr>
          <a:xfrm>
            <a:off x="3010662" y="1687068"/>
            <a:ext cx="7200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600"/>
              <a:buFont typeface="Calibri"/>
              <a:buNone/>
            </a:pPr>
            <a:r>
              <a:rPr b="1" i="0" lang="en" sz="6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Apache Spark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 txBox="1"/>
          <p:nvPr/>
        </p:nvSpPr>
        <p:spPr>
          <a:xfrm>
            <a:off x="2242566" y="1954530"/>
            <a:ext cx="16458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PASS 2 · </a:t>
            </a:r>
            <a:r>
              <a:rPr b="1" lang="en" sz="700">
                <a:solidFill>
                  <a:srgbClr val="0F766E"/>
                </a:solidFill>
              </a:rPr>
              <a:t>Vriddhi</a:t>
            </a:r>
            <a:r>
              <a:rPr b="1" i="0" lang="en" sz="7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-NER (ours)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2242566" y="2139696"/>
            <a:ext cx="720000" cy="185100"/>
          </a:xfrm>
          <a:prstGeom prst="roundRect">
            <a:avLst>
              <a:gd fmla="val 22222" name="adj"/>
            </a:avLst>
          </a:prstGeom>
          <a:solidFill>
            <a:srgbClr val="FFFFFF"/>
          </a:solidFill>
          <a:ln cap="flat" cmpd="sng" w="9525">
            <a:solidFill>
              <a:srgbClr val="D6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7"/>
          <p:cNvSpPr txBox="1"/>
          <p:nvPr/>
        </p:nvSpPr>
        <p:spPr>
          <a:xfrm>
            <a:off x="2242566" y="2139696"/>
            <a:ext cx="7200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600"/>
              <a:buFont typeface="Calibri"/>
              <a:buNone/>
            </a:pPr>
            <a:r>
              <a:rPr b="1" i="0" lang="en" sz="6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ML Pipelines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3010662" y="2139696"/>
            <a:ext cx="720000" cy="185100"/>
          </a:xfrm>
          <a:prstGeom prst="roundRect">
            <a:avLst>
              <a:gd fmla="val 22222" name="adj"/>
            </a:avLst>
          </a:prstGeom>
          <a:solidFill>
            <a:srgbClr val="FFFFFF"/>
          </a:solidFill>
          <a:ln cap="flat" cmpd="sng" w="9525">
            <a:solidFill>
              <a:srgbClr val="D6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7"/>
          <p:cNvSpPr txBox="1"/>
          <p:nvPr/>
        </p:nvSpPr>
        <p:spPr>
          <a:xfrm>
            <a:off x="3010662" y="2139696"/>
            <a:ext cx="7200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600"/>
              <a:buFont typeface="Calibri"/>
              <a:buNone/>
            </a:pPr>
            <a:r>
              <a:rPr b="1" i="0" lang="en" sz="6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A/B Testing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2242566" y="2372868"/>
            <a:ext cx="1488300" cy="185100"/>
          </a:xfrm>
          <a:prstGeom prst="roundRect">
            <a:avLst>
              <a:gd fmla="val 22222" name="adj"/>
            </a:avLst>
          </a:prstGeom>
          <a:solidFill>
            <a:srgbClr val="FFFFFF"/>
          </a:solidFill>
          <a:ln cap="flat" cmpd="sng" w="9525">
            <a:solidFill>
              <a:srgbClr val="D6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7"/>
          <p:cNvSpPr txBox="1"/>
          <p:nvPr/>
        </p:nvSpPr>
        <p:spPr>
          <a:xfrm>
            <a:off x="2242566" y="2372868"/>
            <a:ext cx="14883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600"/>
              <a:buFont typeface="Calibri"/>
              <a:buNone/>
            </a:pPr>
            <a:r>
              <a:rPr b="1" i="0" lang="en" sz="6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Statistical Analysis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 txBox="1"/>
          <p:nvPr/>
        </p:nvSpPr>
        <p:spPr>
          <a:xfrm>
            <a:off x="3888486" y="1831086"/>
            <a:ext cx="219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7B12"/>
              </a:buClr>
              <a:buSzPts val="1500"/>
              <a:buFont typeface="Calibri"/>
              <a:buNone/>
            </a:pPr>
            <a:r>
              <a:rPr b="1" i="0" lang="en" sz="1500" u="none" cap="none" strike="noStrike">
                <a:solidFill>
                  <a:srgbClr val="E07B1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4107942" y="1200150"/>
            <a:ext cx="1446900" cy="1611600"/>
          </a:xfrm>
          <a:prstGeom prst="roundRect">
            <a:avLst>
              <a:gd fmla="val 3791" name="adj"/>
            </a:avLst>
          </a:prstGeom>
          <a:solidFill>
            <a:srgbClr val="1B2A4A"/>
          </a:solidFill>
          <a:ln cap="flat" cmpd="sng" w="9525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00000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7"/>
          <p:cNvSpPr txBox="1"/>
          <p:nvPr/>
        </p:nvSpPr>
        <p:spPr>
          <a:xfrm>
            <a:off x="4197096" y="1268730"/>
            <a:ext cx="13029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B26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6B26B"/>
                </a:solidFill>
                <a:latin typeface="Arial"/>
                <a:ea typeface="Arial"/>
                <a:cs typeface="Arial"/>
                <a:sym typeface="Arial"/>
              </a:rPr>
              <a:t>NORMALIZED RECORD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 txBox="1"/>
          <p:nvPr/>
        </p:nvSpPr>
        <p:spPr>
          <a:xfrm>
            <a:off x="4197096" y="1453896"/>
            <a:ext cx="1337400" cy="13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ourier New"/>
              <a:buNone/>
            </a:pPr>
            <a:r>
              <a:rPr b="0" i="0" lang="en" sz="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ourier New"/>
              <a:buNone/>
            </a:pPr>
            <a:r>
              <a:rPr b="0" i="0" lang="en" sz="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"role":"Data Scientist",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ourier New"/>
              <a:buNone/>
            </a:pPr>
            <a:r>
              <a:rPr b="0" i="0" lang="en" sz="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"skills": 7,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ourier New"/>
              <a:buNone/>
            </a:pPr>
            <a:r>
              <a:rPr b="0" i="0" lang="en" sz="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"esco": true,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ourier New"/>
              <a:buNone/>
            </a:pPr>
            <a:r>
              <a:rPr b="0" i="0" lang="en" sz="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"city": "Bengaluru",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ourier New"/>
              <a:buNone/>
            </a:pPr>
            <a:r>
              <a:rPr b="0" i="0" lang="en" sz="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"exp": [4, 7],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ourier New"/>
              <a:buNone/>
            </a:pPr>
            <a:r>
              <a:rPr b="0" i="0" lang="en" sz="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"pay_lpa": [18, 28]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ourier New"/>
              <a:buNone/>
            </a:pPr>
            <a:r>
              <a:rPr b="0" i="0" lang="en" sz="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 txBox="1"/>
          <p:nvPr/>
        </p:nvSpPr>
        <p:spPr>
          <a:xfrm>
            <a:off x="5760720" y="946404"/>
            <a:ext cx="3038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TRAINING PIPELINE — ON OUR LAPTOPS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5760720" y="1248156"/>
            <a:ext cx="246900" cy="246900"/>
          </a:xfrm>
          <a:prstGeom prst="ellipse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7"/>
          <p:cNvSpPr txBox="1"/>
          <p:nvPr/>
        </p:nvSpPr>
        <p:spPr>
          <a:xfrm>
            <a:off x="5760720" y="1248156"/>
            <a:ext cx="2469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 txBox="1"/>
          <p:nvPr/>
        </p:nvSpPr>
        <p:spPr>
          <a:xfrm>
            <a:off x="6103620" y="1220724"/>
            <a:ext cx="2674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Collect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 txBox="1"/>
          <p:nvPr/>
        </p:nvSpPr>
        <p:spPr>
          <a:xfrm>
            <a:off x="6103620" y="1392174"/>
            <a:ext cx="26952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15,000+ Indian job postings, resumes &amp; syllabi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5760720" y="1645920"/>
            <a:ext cx="246900" cy="246900"/>
          </a:xfrm>
          <a:prstGeom prst="ellipse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7"/>
          <p:cNvSpPr txBox="1"/>
          <p:nvPr/>
        </p:nvSpPr>
        <p:spPr>
          <a:xfrm>
            <a:off x="5760720" y="1645920"/>
            <a:ext cx="2469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 txBox="1"/>
          <p:nvPr/>
        </p:nvSpPr>
        <p:spPr>
          <a:xfrm>
            <a:off x="6103620" y="1618488"/>
            <a:ext cx="2674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Auto-label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 txBox="1"/>
          <p:nvPr/>
        </p:nvSpPr>
        <p:spPr>
          <a:xfrm>
            <a:off x="6103620" y="1789938"/>
            <a:ext cx="26952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ESCO dictionary tags skills; 500 postings hand-verified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5760720" y="2043684"/>
            <a:ext cx="246900" cy="246900"/>
          </a:xfrm>
          <a:prstGeom prst="ellipse">
            <a:avLst/>
          </a:prstGeom>
          <a:solidFill>
            <a:srgbClr val="E07B12"/>
          </a:solidFill>
          <a:ln cap="flat" cmpd="sng" w="12700">
            <a:solidFill>
              <a:srgbClr val="E07B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7"/>
          <p:cNvSpPr txBox="1"/>
          <p:nvPr/>
        </p:nvSpPr>
        <p:spPr>
          <a:xfrm>
            <a:off x="5760720" y="2043684"/>
            <a:ext cx="2469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 txBox="1"/>
          <p:nvPr/>
        </p:nvSpPr>
        <p:spPr>
          <a:xfrm>
            <a:off x="6103620" y="2016252"/>
            <a:ext cx="2674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Fine-tune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 txBox="1"/>
          <p:nvPr/>
        </p:nvSpPr>
        <p:spPr>
          <a:xfrm>
            <a:off x="6103620" y="2187702"/>
            <a:ext cx="26952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PyTorch + LoRA on a laptop GPU; every run logged in MLflow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5760720" y="2441448"/>
            <a:ext cx="246900" cy="246900"/>
          </a:xfrm>
          <a:prstGeom prst="ellipse">
            <a:avLst/>
          </a:prstGeom>
          <a:solidFill>
            <a:srgbClr val="15803D"/>
          </a:solidFill>
          <a:ln cap="flat" cmpd="sng" w="12700">
            <a:solidFill>
              <a:srgbClr val="1580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7"/>
          <p:cNvSpPr txBox="1"/>
          <p:nvPr/>
        </p:nvSpPr>
        <p:spPr>
          <a:xfrm>
            <a:off x="5760720" y="2441448"/>
            <a:ext cx="2469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 txBox="1"/>
          <p:nvPr/>
        </p:nvSpPr>
        <p:spPr>
          <a:xfrm>
            <a:off x="6103620" y="2414016"/>
            <a:ext cx="2674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Ship offline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 txBox="1"/>
          <p:nvPr/>
        </p:nvSpPr>
        <p:spPr>
          <a:xfrm>
            <a:off x="6103620" y="2585466"/>
            <a:ext cx="26952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Export to ONNX / 4-bit GGUF — no internet needed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 txBox="1"/>
          <p:nvPr/>
        </p:nvSpPr>
        <p:spPr>
          <a:xfrm>
            <a:off x="342900" y="2914650"/>
            <a:ext cx="8229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MODEL CARD — </a:t>
            </a:r>
            <a:r>
              <a:rPr b="1" lang="en" sz="900">
                <a:solidFill>
                  <a:srgbClr val="1B2A4A"/>
                </a:solidFill>
              </a:rPr>
              <a:t>EVERY PREDICTION IS OURS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3" name="Google Shape;243;p7"/>
          <p:cNvPicPr preferRelativeResize="0"/>
          <p:nvPr/>
        </p:nvPicPr>
        <p:blipFill rotWithShape="1">
          <a:blip r:embed="rId3">
            <a:alphaModFix/>
          </a:blip>
          <a:srcRect b="18969" l="8265" r="0" t="0"/>
          <a:stretch/>
        </p:blipFill>
        <p:spPr>
          <a:xfrm>
            <a:off x="342900" y="130273"/>
            <a:ext cx="1097274" cy="32235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r="14100000" dist="19050">
              <a:srgbClr val="000000">
                <a:alpha val="48000"/>
              </a:srgbClr>
            </a:outerShdw>
          </a:effectLst>
        </p:spPr>
      </p:pic>
      <p:graphicFrame>
        <p:nvGraphicFramePr>
          <p:cNvPr id="244" name="Google Shape;244;p7"/>
          <p:cNvGraphicFramePr/>
          <p:nvPr/>
        </p:nvGraphicFramePr>
        <p:xfrm>
          <a:off x="342900" y="31409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{14A76909-1354-41D0-A7A0-E654AC0BD8A4}</a:tableStyleId>
              </a:tblPr>
              <a:tblGrid>
                <a:gridCol w="1268725"/>
                <a:gridCol w="1954525"/>
                <a:gridCol w="2228850"/>
                <a:gridCol w="1440175"/>
                <a:gridCol w="1563600"/>
              </a:tblGrid>
              <a:tr h="260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800">
                          <a:solidFill>
                            <a:srgbClr val="FFFFFF"/>
                          </a:solidFill>
                          <a:highlight>
                            <a:srgbClr val="1B2A4A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b="1" i="0" sz="800">
                        <a:solidFill>
                          <a:srgbClr val="FFFFFF"/>
                        </a:solidFill>
                        <a:highlight>
                          <a:srgbClr val="1B2A4A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800">
                          <a:solidFill>
                            <a:srgbClr val="FFFFFF"/>
                          </a:solidFill>
                          <a:highlight>
                            <a:srgbClr val="1B2A4A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 / technique</a:t>
                      </a:r>
                      <a:endParaRPr b="1" i="0" sz="800">
                        <a:solidFill>
                          <a:srgbClr val="FFFFFF"/>
                        </a:solidFill>
                        <a:highlight>
                          <a:srgbClr val="1B2A4A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800">
                          <a:solidFill>
                            <a:srgbClr val="FFFFFF"/>
                          </a:solidFill>
                          <a:highlight>
                            <a:srgbClr val="1B2A4A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Trained on</a:t>
                      </a:r>
                      <a:endParaRPr b="1" i="0" sz="800">
                        <a:solidFill>
                          <a:srgbClr val="FFFFFF"/>
                        </a:solidFill>
                        <a:highlight>
                          <a:srgbClr val="1B2A4A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800">
                          <a:solidFill>
                            <a:srgbClr val="FFFFFF"/>
                          </a:solidFill>
                          <a:highlight>
                            <a:srgbClr val="1B2A4A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Runs on</a:t>
                      </a:r>
                      <a:endParaRPr b="1" i="0" sz="800">
                        <a:solidFill>
                          <a:srgbClr val="FFFFFF"/>
                        </a:solidFill>
                        <a:highlight>
                          <a:srgbClr val="1B2A4A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800">
                          <a:solidFill>
                            <a:srgbClr val="FFFFFF"/>
                          </a:solidFill>
                          <a:highlight>
                            <a:srgbClr val="1B2A4A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Evaluation</a:t>
                      </a:r>
                      <a:endParaRPr b="1" i="0" sz="800">
                        <a:solidFill>
                          <a:srgbClr val="FFFFFF"/>
                        </a:solidFill>
                        <a:highlight>
                          <a:srgbClr val="1B2A4A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</a:tr>
              <a:tr h="260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700">
                          <a:solidFill>
                            <a:srgbClr val="0F766E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Vriddhi-NER</a:t>
                      </a:r>
                      <a:endParaRPr b="1" i="0" sz="700">
                        <a:solidFill>
                          <a:srgbClr val="0F766E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700">
                          <a:solidFill>
                            <a:srgbClr val="1F2937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ESCO dictionary + regex + LLM-assisted</a:t>
                      </a:r>
                      <a:endParaRPr b="0" i="0" sz="700">
                        <a:solidFill>
                          <a:srgbClr val="1F2937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700">
                          <a:solidFill>
                            <a:srgbClr val="1F2937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15k+ postings, 500 verified</a:t>
                      </a:r>
                      <a:endParaRPr b="0" i="0" sz="700">
                        <a:solidFill>
                          <a:srgbClr val="1F2937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700">
                          <a:solidFill>
                            <a:srgbClr val="1F2937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CPU · spaCy</a:t>
                      </a:r>
                      <a:endParaRPr b="0" i="0" sz="700">
                        <a:solidFill>
                          <a:srgbClr val="1F2937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700">
                          <a:solidFill>
                            <a:srgbClr val="1F2937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Precision on held-out postings</a:t>
                      </a:r>
                      <a:endParaRPr b="0" i="0" sz="700">
                        <a:solidFill>
                          <a:srgbClr val="1F2937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60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700">
                          <a:solidFill>
                            <a:srgbClr val="1B2A4A"/>
                          </a:solidFill>
                          <a:highlight>
                            <a:srgbClr val="F7F9FC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CompIntel</a:t>
                      </a:r>
                      <a:endParaRPr b="1" i="0" sz="700">
                        <a:solidFill>
                          <a:srgbClr val="1B2A4A"/>
                        </a:solidFill>
                        <a:highlight>
                          <a:srgbClr val="F7F9FC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700">
                          <a:solidFill>
                            <a:srgbClr val="1F2937"/>
                          </a:solidFill>
                          <a:highlight>
                            <a:srgbClr val="F7F9FC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 + XGBoost + GBM ensemble</a:t>
                      </a:r>
                      <a:endParaRPr b="0" i="0" sz="700">
                        <a:solidFill>
                          <a:srgbClr val="1F2937"/>
                        </a:solidFill>
                        <a:highlight>
                          <a:srgbClr val="F7F9FC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700">
                          <a:solidFill>
                            <a:srgbClr val="1F2937"/>
                          </a:solidFill>
                          <a:highlight>
                            <a:srgbClr val="F7F9FC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Indian salary records</a:t>
                      </a:r>
                      <a:endParaRPr b="0" i="0" sz="700">
                        <a:solidFill>
                          <a:srgbClr val="1F2937"/>
                        </a:solidFill>
                        <a:highlight>
                          <a:srgbClr val="F7F9FC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700">
                          <a:solidFill>
                            <a:srgbClr val="1F2937"/>
                          </a:solidFill>
                          <a:highlight>
                            <a:srgbClr val="F7F9FC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CPU · scikit-learn</a:t>
                      </a:r>
                      <a:endParaRPr b="0" i="0" sz="700">
                        <a:solidFill>
                          <a:srgbClr val="1F2937"/>
                        </a:solidFill>
                        <a:highlight>
                          <a:srgbClr val="F7F9FC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700">
                          <a:solidFill>
                            <a:srgbClr val="1F2937"/>
                          </a:solidFill>
                          <a:highlight>
                            <a:srgbClr val="F7F9FC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RMSE · MAE · R² (5-fold CV)</a:t>
                      </a:r>
                      <a:endParaRPr b="0" i="0" sz="700">
                        <a:solidFill>
                          <a:srgbClr val="1F2937"/>
                        </a:solidFill>
                        <a:highlight>
                          <a:srgbClr val="F7F9FC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</a:tr>
              <a:tr h="260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700">
                          <a:solidFill>
                            <a:srgbClr val="1B2A4A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SkillRadar</a:t>
                      </a:r>
                      <a:endParaRPr b="1" i="0" sz="700">
                        <a:solidFill>
                          <a:srgbClr val="1B2A4A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700">
                          <a:solidFill>
                            <a:srgbClr val="1F2937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ARIMA + linear regression</a:t>
                      </a:r>
                      <a:endParaRPr b="0" i="0" sz="700">
                        <a:solidFill>
                          <a:srgbClr val="1F2937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700">
                          <a:solidFill>
                            <a:srgbClr val="1F2937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Monthly skill counts per role × city</a:t>
                      </a:r>
                      <a:endParaRPr b="0" i="0" sz="700">
                        <a:solidFill>
                          <a:srgbClr val="1F2937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700">
                          <a:solidFill>
                            <a:srgbClr val="1F2937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CPU · statsmodels</a:t>
                      </a:r>
                      <a:endParaRPr b="0" i="0" sz="700">
                        <a:solidFill>
                          <a:srgbClr val="1F2937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700">
                          <a:solidFill>
                            <a:srgbClr val="1F2937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MAPE on 3-month hold-out</a:t>
                      </a:r>
                      <a:endParaRPr b="0" i="0" sz="700">
                        <a:solidFill>
                          <a:srgbClr val="1F2937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60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700">
                          <a:solidFill>
                            <a:srgbClr val="1B2A4A"/>
                          </a:solidFill>
                          <a:highlight>
                            <a:srgbClr val="F7F9FC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Skill Embeddings</a:t>
                      </a:r>
                      <a:endParaRPr b="1" i="0" sz="700">
                        <a:solidFill>
                          <a:srgbClr val="1B2A4A"/>
                        </a:solidFill>
                        <a:highlight>
                          <a:srgbClr val="F7F9FC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700">
                          <a:solidFill>
                            <a:srgbClr val="1F2937"/>
                          </a:solidFill>
                          <a:highlight>
                            <a:srgbClr val="F7F9FC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MiniLM-L6-v2 (pre-trained)</a:t>
                      </a:r>
                      <a:endParaRPr b="0" i="0" sz="700">
                        <a:solidFill>
                          <a:srgbClr val="1F2937"/>
                        </a:solidFill>
                        <a:highlight>
                          <a:srgbClr val="F7F9FC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700">
                          <a:solidFill>
                            <a:srgbClr val="1F2937"/>
                          </a:solidFill>
                          <a:highlight>
                            <a:srgbClr val="F7F9FC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Skill pairs co-occurring in postings</a:t>
                      </a:r>
                      <a:endParaRPr b="0" i="0" sz="700">
                        <a:solidFill>
                          <a:srgbClr val="1F2937"/>
                        </a:solidFill>
                        <a:highlight>
                          <a:srgbClr val="F7F9FC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700">
                          <a:solidFill>
                            <a:srgbClr val="1F2937"/>
                          </a:solidFill>
                          <a:highlight>
                            <a:srgbClr val="F7F9FC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CPU · 384-d vectors</a:t>
                      </a:r>
                      <a:endParaRPr b="0" i="0" sz="700">
                        <a:solidFill>
                          <a:srgbClr val="1F2937"/>
                        </a:solidFill>
                        <a:highlight>
                          <a:srgbClr val="F7F9FC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700">
                          <a:solidFill>
                            <a:srgbClr val="1F2937"/>
                          </a:solidFill>
                          <a:highlight>
                            <a:srgbClr val="F7F9FC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Precision@5 in TalentMatch</a:t>
                      </a:r>
                      <a:endParaRPr b="0" i="0" sz="700">
                        <a:solidFill>
                          <a:srgbClr val="1F2937"/>
                        </a:solidFill>
                        <a:highlight>
                          <a:srgbClr val="F7F9FC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</a:tr>
              <a:tr h="260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700">
                          <a:solidFill>
                            <a:srgbClr val="0F766E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Vriddhi-Counselor</a:t>
                      </a:r>
                      <a:endParaRPr b="1" i="0" sz="700">
                        <a:solidFill>
                          <a:srgbClr val="0F766E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700">
                          <a:solidFill>
                            <a:srgbClr val="1F2937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Agentic function calling + ChromaDB</a:t>
                      </a:r>
                      <a:endParaRPr b="0" i="0" sz="700">
                        <a:solidFill>
                          <a:srgbClr val="1F2937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700">
                          <a:solidFill>
                            <a:srgbClr val="1F2937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Module outputs + market context</a:t>
                      </a:r>
                      <a:endParaRPr b="0" i="0" sz="700">
                        <a:solidFill>
                          <a:srgbClr val="1F2937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700">
                          <a:solidFill>
                            <a:srgbClr val="1F2937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Reasoning layer</a:t>
                      </a:r>
                      <a:endParaRPr b="0" i="0" sz="700">
                        <a:solidFill>
                          <a:srgbClr val="1F2937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700">
                          <a:solidFill>
                            <a:srgbClr val="1F2937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answers grounded in module data</a:t>
                      </a:r>
                      <a:endParaRPr b="0" i="0" sz="700">
                        <a:solidFill>
                          <a:srgbClr val="1F2937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8"/>
          <p:cNvSpPr/>
          <p:nvPr/>
        </p:nvSpPr>
        <p:spPr>
          <a:xfrm>
            <a:off x="7255764" y="246888"/>
            <a:ext cx="1543050" cy="219456"/>
          </a:xfrm>
          <a:prstGeom prst="roundRect">
            <a:avLst>
              <a:gd fmla="val 25000" name="adj"/>
            </a:avLst>
          </a:prstGeom>
          <a:solidFill>
            <a:srgbClr val="FDF1E4"/>
          </a:solidFill>
          <a:ln cap="flat" cmpd="sng" w="9525">
            <a:solidFill>
              <a:srgbClr val="E07B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8"/>
          <p:cNvSpPr txBox="1"/>
          <p:nvPr/>
        </p:nvSpPr>
        <p:spPr>
          <a:xfrm>
            <a:off x="7255764" y="246888"/>
            <a:ext cx="154305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7B12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E07B12"/>
                </a:solidFill>
                <a:latin typeface="Arial"/>
                <a:ea typeface="Arial"/>
                <a:cs typeface="Arial"/>
                <a:sym typeface="Arial"/>
              </a:rPr>
              <a:t>BUILD FOR BHARAT 2.0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 txBox="1"/>
          <p:nvPr/>
        </p:nvSpPr>
        <p:spPr>
          <a:xfrm>
            <a:off x="1851660" y="164592"/>
            <a:ext cx="543839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100"/>
              <a:buFont typeface="Cambria"/>
              <a:buNone/>
            </a:pPr>
            <a:r>
              <a:rPr b="1" i="0" lang="en" sz="21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SKILLRADAR &amp; COMPINTEL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 txBox="1"/>
          <p:nvPr/>
        </p:nvSpPr>
        <p:spPr>
          <a:xfrm>
            <a:off x="1028700" y="576072"/>
            <a:ext cx="708431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1100"/>
              <a:buFont typeface="Calibri"/>
              <a:buNone/>
            </a:pPr>
            <a:r>
              <a:rPr b="0" i="1" lang="en" sz="1100" u="none" cap="none" strike="noStrike">
                <a:solidFill>
                  <a:srgbClr val="2F5597"/>
                </a:solidFill>
                <a:latin typeface="Calibri"/>
                <a:ea typeface="Calibri"/>
                <a:cs typeface="Calibri"/>
                <a:sym typeface="Calibri"/>
              </a:rPr>
              <a:t>“Know which skills are rising — and exactly how much each one moves your pay.”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 txBox="1"/>
          <p:nvPr/>
        </p:nvSpPr>
        <p:spPr>
          <a:xfrm>
            <a:off x="342900" y="4855464"/>
            <a:ext cx="41148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700"/>
              <a:buFont typeface="Calibri"/>
              <a:buNone/>
            </a:pPr>
            <a:r>
              <a:rPr lang="en" sz="700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Vriddhi</a:t>
            </a:r>
            <a:r>
              <a:rPr b="0" i="0" lang="en" sz="700" u="none" cap="none" strike="noStrike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  ·  Workforce Intelligence for Bharat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 txBox="1"/>
          <p:nvPr/>
        </p:nvSpPr>
        <p:spPr>
          <a:xfrm>
            <a:off x="8455914" y="4855464"/>
            <a:ext cx="3429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 txBox="1"/>
          <p:nvPr/>
        </p:nvSpPr>
        <p:spPr>
          <a:xfrm>
            <a:off x="342900" y="960120"/>
            <a:ext cx="41833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SKILLRADAR — DEMAND TREND (DATA SCIENTIST · BENGALURU)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7" name="Google Shape;25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00" y="1179576"/>
            <a:ext cx="4183380" cy="233172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8"/>
          <p:cNvSpPr/>
          <p:nvPr/>
        </p:nvSpPr>
        <p:spPr>
          <a:xfrm>
            <a:off x="342900" y="3634740"/>
            <a:ext cx="1344168" cy="946404"/>
          </a:xfrm>
          <a:prstGeom prst="roundRect">
            <a:avLst>
              <a:gd fmla="val 5797" name="adj"/>
            </a:avLst>
          </a:prstGeom>
          <a:solidFill>
            <a:srgbClr val="E8F5EC"/>
          </a:solidFill>
          <a:ln cap="flat" cmpd="sng" w="9525">
            <a:solidFill>
              <a:srgbClr val="1580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8"/>
          <p:cNvSpPr txBox="1"/>
          <p:nvPr/>
        </p:nvSpPr>
        <p:spPr>
          <a:xfrm>
            <a:off x="445770" y="3689604"/>
            <a:ext cx="116586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RISING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 txBox="1"/>
          <p:nvPr/>
        </p:nvSpPr>
        <p:spPr>
          <a:xfrm>
            <a:off x="445770" y="3874770"/>
            <a:ext cx="1165860" cy="754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LangChain  +340%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MLOps  +89%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Kubernetes  +45%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1762506" y="3634740"/>
            <a:ext cx="1344168" cy="946404"/>
          </a:xfrm>
          <a:prstGeom prst="roundRect">
            <a:avLst>
              <a:gd fmla="val 5797" name="adj"/>
            </a:avLst>
          </a:prstGeom>
          <a:solidFill>
            <a:srgbClr val="F1F4F9"/>
          </a:solidFill>
          <a:ln cap="flat" cmpd="sng" w="9525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8"/>
          <p:cNvSpPr txBox="1"/>
          <p:nvPr/>
        </p:nvSpPr>
        <p:spPr>
          <a:xfrm>
            <a:off x="1865376" y="3689604"/>
            <a:ext cx="116586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STABLE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 txBox="1"/>
          <p:nvPr/>
        </p:nvSpPr>
        <p:spPr>
          <a:xfrm>
            <a:off x="1865376" y="3874770"/>
            <a:ext cx="1165860" cy="754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Python  ~95%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SQL  ~82%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(core baseline)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3182112" y="3634740"/>
            <a:ext cx="1344168" cy="946404"/>
          </a:xfrm>
          <a:prstGeom prst="roundRect">
            <a:avLst>
              <a:gd fmla="val 5797" name="adj"/>
            </a:avLst>
          </a:prstGeom>
          <a:solidFill>
            <a:srgbClr val="FDECEA"/>
          </a:solidFill>
          <a:ln cap="flat" cmpd="sng" w="9525">
            <a:solidFill>
              <a:srgbClr val="B423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8"/>
          <p:cNvSpPr txBox="1"/>
          <p:nvPr/>
        </p:nvSpPr>
        <p:spPr>
          <a:xfrm>
            <a:off x="3284982" y="3689604"/>
            <a:ext cx="116586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2318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B42318"/>
                </a:solidFill>
                <a:latin typeface="Arial"/>
                <a:ea typeface="Arial"/>
                <a:cs typeface="Arial"/>
                <a:sym typeface="Arial"/>
              </a:rPr>
              <a:t>DECLINING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 txBox="1"/>
          <p:nvPr/>
        </p:nvSpPr>
        <p:spPr>
          <a:xfrm>
            <a:off x="3284982" y="3874770"/>
            <a:ext cx="1165860" cy="754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Hadoop  −52%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jQuery  −67%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(deprioritize)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 txBox="1"/>
          <p:nvPr/>
        </p:nvSpPr>
        <p:spPr>
          <a:xfrm>
            <a:off x="4732020" y="960120"/>
            <a:ext cx="4066794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COMPINTEL — WHY THIS SALARY? (SHAP DRIVERS, ₹ LAKH)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8" name="Google Shape;26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32020" y="1179576"/>
            <a:ext cx="4066794" cy="233172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8"/>
          <p:cNvSpPr/>
          <p:nvPr/>
        </p:nvSpPr>
        <p:spPr>
          <a:xfrm>
            <a:off x="4732020" y="3634740"/>
            <a:ext cx="4066794" cy="946404"/>
          </a:xfrm>
          <a:prstGeom prst="roundRect">
            <a:avLst>
              <a:gd fmla="val 5797" name="adj"/>
            </a:avLst>
          </a:prstGeom>
          <a:solidFill>
            <a:srgbClr val="FFFFFF"/>
          </a:solidFill>
          <a:ln cap="flat" cmpd="sng" w="9525">
            <a:solidFill>
              <a:srgbClr val="D6DC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00000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8"/>
          <p:cNvSpPr txBox="1"/>
          <p:nvPr/>
        </p:nvSpPr>
        <p:spPr>
          <a:xfrm>
            <a:off x="4869180" y="3703320"/>
            <a:ext cx="1714500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B12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E07B12"/>
                </a:solidFill>
                <a:latin typeface="Arial"/>
                <a:ea typeface="Arial"/>
                <a:cs typeface="Arial"/>
                <a:sym typeface="Arial"/>
              </a:rPr>
              <a:t>PREDICTED SALARY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 txBox="1"/>
          <p:nvPr/>
        </p:nvSpPr>
        <p:spPr>
          <a:xfrm>
            <a:off x="4869180" y="3867912"/>
            <a:ext cx="171450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800"/>
              <a:buFont typeface="Cambria"/>
              <a:buNone/>
            </a:pPr>
            <a:r>
              <a:rPr b="1" i="0" lang="en" sz="18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₹22.4 LPA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 txBox="1"/>
          <p:nvPr/>
        </p:nvSpPr>
        <p:spPr>
          <a:xfrm>
            <a:off x="4869180" y="4197096"/>
            <a:ext cx="178308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85% band: ₹19.8L – ₹25.1L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 txBox="1"/>
          <p:nvPr/>
        </p:nvSpPr>
        <p:spPr>
          <a:xfrm>
            <a:off x="4869180" y="4389120"/>
            <a:ext cx="178308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700"/>
              <a:buFont typeface="Calibri"/>
              <a:buNone/>
            </a:pPr>
            <a:r>
              <a:rPr b="0" i="1" lang="en" sz="700" u="none" cap="none" strike="noStrike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RF + XGBoost + GBM ensemble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4" name="Google Shape;274;p8"/>
          <p:cNvCxnSpPr/>
          <p:nvPr/>
        </p:nvCxnSpPr>
        <p:spPr>
          <a:xfrm>
            <a:off x="6686550" y="3737610"/>
            <a:ext cx="0" cy="836676"/>
          </a:xfrm>
          <a:prstGeom prst="straightConnector1">
            <a:avLst/>
          </a:prstGeom>
          <a:noFill/>
          <a:ln cap="flat" cmpd="sng" w="12700">
            <a:solidFill>
              <a:srgbClr val="D6DC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5" name="Google Shape;275;p8"/>
          <p:cNvSpPr txBox="1"/>
          <p:nvPr/>
        </p:nvSpPr>
        <p:spPr>
          <a:xfrm>
            <a:off x="6823710" y="3703320"/>
            <a:ext cx="1851660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B12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E07B12"/>
                </a:solidFill>
                <a:latin typeface="Arial"/>
                <a:ea typeface="Arial"/>
                <a:cs typeface="Arial"/>
                <a:sym typeface="Arial"/>
              </a:rPr>
              <a:t>WHAT-IF SIMULATOR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6823710" y="3922776"/>
            <a:ext cx="342900" cy="178308"/>
          </a:xfrm>
          <a:prstGeom prst="roundRect">
            <a:avLst>
              <a:gd fmla="val 50000" name="adj"/>
            </a:avLst>
          </a:prstGeom>
          <a:solidFill>
            <a:srgbClr val="15803D"/>
          </a:solidFill>
          <a:ln cap="flat" cmpd="sng" w="12700">
            <a:solidFill>
              <a:srgbClr val="1580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8"/>
          <p:cNvSpPr/>
          <p:nvPr/>
        </p:nvSpPr>
        <p:spPr>
          <a:xfrm>
            <a:off x="7002018" y="3939921"/>
            <a:ext cx="144018" cy="14401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8"/>
          <p:cNvSpPr txBox="1"/>
          <p:nvPr/>
        </p:nvSpPr>
        <p:spPr>
          <a:xfrm>
            <a:off x="7235190" y="3909060"/>
            <a:ext cx="15087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+ Kubernetes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 txBox="1"/>
          <p:nvPr/>
        </p:nvSpPr>
        <p:spPr>
          <a:xfrm>
            <a:off x="6823710" y="4149090"/>
            <a:ext cx="192024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400"/>
              <a:buFont typeface="Cambria"/>
              <a:buNone/>
            </a:pPr>
            <a:r>
              <a:rPr b="1" i="0" lang="en" sz="1400" u="none" cap="none" strike="noStrike">
                <a:solidFill>
                  <a:srgbClr val="15803D"/>
                </a:solidFill>
                <a:latin typeface="Cambria"/>
                <a:ea typeface="Cambria"/>
                <a:cs typeface="Cambria"/>
                <a:sym typeface="Cambria"/>
              </a:rPr>
              <a:t>₹25.1 LPA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 txBox="1"/>
          <p:nvPr/>
        </p:nvSpPr>
        <p:spPr>
          <a:xfrm>
            <a:off x="6823710" y="4389120"/>
            <a:ext cx="192024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+₹2.7L from one skill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 txBox="1"/>
          <p:nvPr/>
        </p:nvSpPr>
        <p:spPr>
          <a:xfrm>
            <a:off x="342900" y="4663440"/>
            <a:ext cx="54864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600"/>
              <a:buFont typeface="Calibri"/>
              <a:buNone/>
            </a:pPr>
            <a:r>
              <a:rPr b="0" i="1" lang="en" sz="600" u="none" cap="none" strike="noStrike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Charts show prototype sample outputs. "F" = 6-month forecast horizon.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2" name="Google Shape;282;p8"/>
          <p:cNvPicPr preferRelativeResize="0"/>
          <p:nvPr/>
        </p:nvPicPr>
        <p:blipFill rotWithShape="1">
          <a:blip r:embed="rId5">
            <a:alphaModFix/>
          </a:blip>
          <a:srcRect b="18969" l="8265" r="0" t="0"/>
          <a:stretch/>
        </p:blipFill>
        <p:spPr>
          <a:xfrm>
            <a:off x="342900" y="116548"/>
            <a:ext cx="1097274" cy="32235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r="14100000" dist="19050">
              <a:srgbClr val="000000">
                <a:alpha val="48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9"/>
          <p:cNvSpPr/>
          <p:nvPr/>
        </p:nvSpPr>
        <p:spPr>
          <a:xfrm>
            <a:off x="7255764" y="246888"/>
            <a:ext cx="1543050" cy="219456"/>
          </a:xfrm>
          <a:prstGeom prst="roundRect">
            <a:avLst>
              <a:gd fmla="val 25000" name="adj"/>
            </a:avLst>
          </a:prstGeom>
          <a:solidFill>
            <a:srgbClr val="FDF1E4"/>
          </a:solidFill>
          <a:ln cap="flat" cmpd="sng" w="9525">
            <a:solidFill>
              <a:srgbClr val="E07B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9"/>
          <p:cNvSpPr txBox="1"/>
          <p:nvPr/>
        </p:nvSpPr>
        <p:spPr>
          <a:xfrm>
            <a:off x="7255764" y="246888"/>
            <a:ext cx="154305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7B12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E07B12"/>
                </a:solidFill>
                <a:latin typeface="Arial"/>
                <a:ea typeface="Arial"/>
                <a:cs typeface="Arial"/>
                <a:sym typeface="Arial"/>
              </a:rPr>
              <a:t>BUILD FOR BHARAT 2.0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9"/>
          <p:cNvSpPr txBox="1"/>
          <p:nvPr/>
        </p:nvSpPr>
        <p:spPr>
          <a:xfrm>
            <a:off x="1851660" y="164592"/>
            <a:ext cx="543839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100"/>
              <a:buFont typeface="Cambria"/>
              <a:buNone/>
            </a:pPr>
            <a:r>
              <a:rPr b="1" i="0" lang="en" sz="21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TALENTMATCH &amp; CURRICULUMSYNC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9"/>
          <p:cNvSpPr txBox="1"/>
          <p:nvPr/>
        </p:nvSpPr>
        <p:spPr>
          <a:xfrm>
            <a:off x="1028700" y="576072"/>
            <a:ext cx="708431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1100"/>
              <a:buFont typeface="Calibri"/>
              <a:buNone/>
            </a:pPr>
            <a:r>
              <a:rPr b="0" i="1" lang="en" sz="1100" u="none" cap="none" strike="noStrike">
                <a:solidFill>
                  <a:srgbClr val="2F5597"/>
                </a:solidFill>
                <a:latin typeface="Calibri"/>
                <a:ea typeface="Calibri"/>
                <a:cs typeface="Calibri"/>
                <a:sym typeface="Calibri"/>
              </a:rPr>
              <a:t>“The same engine that tells a student what’s missing tells a college what to teach.”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9"/>
          <p:cNvSpPr txBox="1"/>
          <p:nvPr/>
        </p:nvSpPr>
        <p:spPr>
          <a:xfrm>
            <a:off x="342900" y="4855464"/>
            <a:ext cx="41148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700"/>
              <a:buFont typeface="Calibri"/>
              <a:buNone/>
            </a:pPr>
            <a:r>
              <a:rPr lang="en" sz="700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Vriddhi</a:t>
            </a:r>
            <a:r>
              <a:rPr b="0" i="0" lang="en" sz="700" u="none" cap="none" strike="noStrike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  ·  Workforce Intelligence for Bharat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 txBox="1"/>
          <p:nvPr/>
        </p:nvSpPr>
        <p:spPr>
          <a:xfrm>
            <a:off x="8455914" y="4855464"/>
            <a:ext cx="3429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9"/>
          <p:cNvSpPr/>
          <p:nvPr/>
        </p:nvSpPr>
        <p:spPr>
          <a:xfrm>
            <a:off x="480060" y="960120"/>
            <a:ext cx="1920240" cy="3771900"/>
          </a:xfrm>
          <a:prstGeom prst="roundRect">
            <a:avLst>
              <a:gd fmla="val 11429" name="adj"/>
            </a:avLst>
          </a:prstGeom>
          <a:solidFill>
            <a:srgbClr val="0F172A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50800">
              <a:srgbClr val="000000">
                <a:alpha val="25098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9"/>
          <p:cNvSpPr/>
          <p:nvPr/>
        </p:nvSpPr>
        <p:spPr>
          <a:xfrm>
            <a:off x="548640" y="1028700"/>
            <a:ext cx="1783080" cy="3634740"/>
          </a:xfrm>
          <a:prstGeom prst="roundRect">
            <a:avLst>
              <a:gd fmla="val 9231" name="adj"/>
            </a:avLst>
          </a:prstGeom>
          <a:solidFill>
            <a:srgbClr val="F8FAFC"/>
          </a:solidFill>
          <a:ln cap="flat" cmpd="sng" w="12700">
            <a:solidFill>
              <a:srgbClr val="F8FA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9"/>
          <p:cNvSpPr/>
          <p:nvPr/>
        </p:nvSpPr>
        <p:spPr>
          <a:xfrm>
            <a:off x="1200150" y="1083564"/>
            <a:ext cx="480060" cy="89154"/>
          </a:xfrm>
          <a:prstGeom prst="roundRect">
            <a:avLst>
              <a:gd fmla="val 46154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9"/>
          <p:cNvSpPr txBox="1"/>
          <p:nvPr/>
        </p:nvSpPr>
        <p:spPr>
          <a:xfrm>
            <a:off x="644652" y="1248156"/>
            <a:ext cx="1591056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TalentMatch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9"/>
          <p:cNvSpPr txBox="1"/>
          <p:nvPr/>
        </p:nvSpPr>
        <p:spPr>
          <a:xfrm>
            <a:off x="644652" y="1453896"/>
            <a:ext cx="1591056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600"/>
              <a:buFont typeface="Calibri"/>
              <a:buNone/>
            </a:pPr>
            <a:r>
              <a:rPr b="1" i="0" lang="en" sz="600" u="none" cap="none" strike="noStrike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✓ aarav_resume.pdf parsed — 4 skills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9"/>
          <p:cNvSpPr txBox="1"/>
          <p:nvPr/>
        </p:nvSpPr>
        <p:spPr>
          <a:xfrm>
            <a:off x="644652" y="1604772"/>
            <a:ext cx="1591056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Target: Data Scientist · Bengaluru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0" name="Google Shape;30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3836" y="1796796"/>
            <a:ext cx="932688" cy="932688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9"/>
          <p:cNvSpPr txBox="1"/>
          <p:nvPr/>
        </p:nvSpPr>
        <p:spPr>
          <a:xfrm>
            <a:off x="973836" y="2125980"/>
            <a:ext cx="9326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42%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9"/>
          <p:cNvSpPr txBox="1"/>
          <p:nvPr/>
        </p:nvSpPr>
        <p:spPr>
          <a:xfrm>
            <a:off x="644652" y="2722626"/>
            <a:ext cx="1591056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role match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9"/>
          <p:cNvSpPr txBox="1"/>
          <p:nvPr/>
        </p:nvSpPr>
        <p:spPr>
          <a:xfrm>
            <a:off x="644652" y="2907792"/>
            <a:ext cx="1591056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B12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E07B12"/>
                </a:solidFill>
                <a:latin typeface="Arial"/>
                <a:ea typeface="Arial"/>
                <a:cs typeface="Arial"/>
                <a:sym typeface="Arial"/>
              </a:rPr>
              <a:t>LEARN NEXT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644652" y="3072384"/>
            <a:ext cx="1591056" cy="30861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9525">
            <a:solidFill>
              <a:srgbClr val="D6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9"/>
          <p:cNvSpPr txBox="1"/>
          <p:nvPr/>
        </p:nvSpPr>
        <p:spPr>
          <a:xfrm>
            <a:off x="713232" y="3072384"/>
            <a:ext cx="92583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1  Machine Learning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9"/>
          <p:cNvSpPr txBox="1"/>
          <p:nvPr/>
        </p:nvSpPr>
        <p:spPr>
          <a:xfrm>
            <a:off x="1570482" y="3072384"/>
            <a:ext cx="61722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600"/>
              <a:buFont typeface="Calibri"/>
              <a:buNone/>
            </a:pPr>
            <a:r>
              <a:rPr b="1" i="0" lang="en" sz="600" u="none" cap="none" strike="noStrike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+18% · +₹2.1L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/>
          <p:nvPr/>
        </p:nvSpPr>
        <p:spPr>
          <a:xfrm>
            <a:off x="644652" y="3429000"/>
            <a:ext cx="1591056" cy="30861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9525">
            <a:solidFill>
              <a:srgbClr val="D6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9"/>
          <p:cNvSpPr txBox="1"/>
          <p:nvPr/>
        </p:nvSpPr>
        <p:spPr>
          <a:xfrm>
            <a:off x="713232" y="3429000"/>
            <a:ext cx="92583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2  TensorFlow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9"/>
          <p:cNvSpPr txBox="1"/>
          <p:nvPr/>
        </p:nvSpPr>
        <p:spPr>
          <a:xfrm>
            <a:off x="1570482" y="3429000"/>
            <a:ext cx="61722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600"/>
              <a:buFont typeface="Calibri"/>
              <a:buNone/>
            </a:pPr>
            <a:r>
              <a:rPr b="1" i="0" lang="en" sz="600" u="none" cap="none" strike="noStrike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+14% · +₹1.8L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9"/>
          <p:cNvSpPr/>
          <p:nvPr/>
        </p:nvSpPr>
        <p:spPr>
          <a:xfrm>
            <a:off x="644652" y="3785616"/>
            <a:ext cx="1591056" cy="30861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9525">
            <a:solidFill>
              <a:srgbClr val="D6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9"/>
          <p:cNvSpPr txBox="1"/>
          <p:nvPr/>
        </p:nvSpPr>
        <p:spPr>
          <a:xfrm>
            <a:off x="713232" y="3785616"/>
            <a:ext cx="92583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3  Statistics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 txBox="1"/>
          <p:nvPr/>
        </p:nvSpPr>
        <p:spPr>
          <a:xfrm>
            <a:off x="1570482" y="3785616"/>
            <a:ext cx="61722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600"/>
              <a:buFont typeface="Calibri"/>
              <a:buNone/>
            </a:pPr>
            <a:r>
              <a:rPr b="1" i="0" lang="en" sz="600" u="none" cap="none" strike="noStrike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+12% · +₹1.2L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644652" y="4197096"/>
            <a:ext cx="1591056" cy="260604"/>
          </a:xfrm>
          <a:prstGeom prst="roundRect">
            <a:avLst>
              <a:gd fmla="val 26316" name="adj"/>
            </a:avLst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9"/>
          <p:cNvSpPr txBox="1"/>
          <p:nvPr/>
        </p:nvSpPr>
        <p:spPr>
          <a:xfrm>
            <a:off x="644652" y="4197096"/>
            <a:ext cx="1591056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Build my 12-week plan →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 txBox="1"/>
          <p:nvPr/>
        </p:nvSpPr>
        <p:spPr>
          <a:xfrm>
            <a:off x="2640330" y="960120"/>
            <a:ext cx="24003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HOW THE GAP ENGINE RANKS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2640330" y="1268730"/>
            <a:ext cx="260604" cy="260604"/>
          </a:xfrm>
          <a:prstGeom prst="ellipse">
            <a:avLst/>
          </a:prstGeom>
          <a:solidFill>
            <a:srgbClr val="E07B12"/>
          </a:solidFill>
          <a:ln cap="flat" cmpd="sng" w="12700">
            <a:solidFill>
              <a:srgbClr val="E07B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9"/>
          <p:cNvSpPr txBox="1"/>
          <p:nvPr/>
        </p:nvSpPr>
        <p:spPr>
          <a:xfrm>
            <a:off x="2640330" y="1268730"/>
            <a:ext cx="260604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 txBox="1"/>
          <p:nvPr/>
        </p:nvSpPr>
        <p:spPr>
          <a:xfrm>
            <a:off x="2983230" y="1255014"/>
            <a:ext cx="19888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Extract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 txBox="1"/>
          <p:nvPr/>
        </p:nvSpPr>
        <p:spPr>
          <a:xfrm>
            <a:off x="2983230" y="1460754"/>
            <a:ext cx="195453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resume skills with the same NLP engine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2640330" y="2105406"/>
            <a:ext cx="260604" cy="260604"/>
          </a:xfrm>
          <a:prstGeom prst="ellipse">
            <a:avLst/>
          </a:prstGeom>
          <a:solidFill>
            <a:srgbClr val="E07B12"/>
          </a:solidFill>
          <a:ln cap="flat" cmpd="sng" w="12700">
            <a:solidFill>
              <a:srgbClr val="E07B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9"/>
          <p:cNvSpPr txBox="1"/>
          <p:nvPr/>
        </p:nvSpPr>
        <p:spPr>
          <a:xfrm>
            <a:off x="2640330" y="2105406"/>
            <a:ext cx="260604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9"/>
          <p:cNvSpPr txBox="1"/>
          <p:nvPr/>
        </p:nvSpPr>
        <p:spPr>
          <a:xfrm>
            <a:off x="2983230" y="2091690"/>
            <a:ext cx="19888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Build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9"/>
          <p:cNvSpPr txBox="1"/>
          <p:nvPr/>
        </p:nvSpPr>
        <p:spPr>
          <a:xfrm>
            <a:off x="2983230" y="2297430"/>
            <a:ext cx="195453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the role’s ideal skill vector from all matching postings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2640330" y="2942082"/>
            <a:ext cx="260604" cy="260604"/>
          </a:xfrm>
          <a:prstGeom prst="ellipse">
            <a:avLst/>
          </a:prstGeom>
          <a:solidFill>
            <a:srgbClr val="E07B12"/>
          </a:solidFill>
          <a:ln cap="flat" cmpd="sng" w="12700">
            <a:solidFill>
              <a:srgbClr val="E07B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9"/>
          <p:cNvSpPr txBox="1"/>
          <p:nvPr/>
        </p:nvSpPr>
        <p:spPr>
          <a:xfrm>
            <a:off x="2640330" y="2942082"/>
            <a:ext cx="260604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9"/>
          <p:cNvSpPr txBox="1"/>
          <p:nvPr/>
        </p:nvSpPr>
        <p:spPr>
          <a:xfrm>
            <a:off x="2983230" y="2928366"/>
            <a:ext cx="19888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Score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9"/>
          <p:cNvSpPr txBox="1"/>
          <p:nvPr/>
        </p:nvSpPr>
        <p:spPr>
          <a:xfrm>
            <a:off x="2983230" y="3134106"/>
            <a:ext cx="195453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cosine similarity → match 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2640330" y="3778758"/>
            <a:ext cx="260604" cy="260604"/>
          </a:xfrm>
          <a:prstGeom prst="ellipse">
            <a:avLst/>
          </a:prstGeom>
          <a:solidFill>
            <a:srgbClr val="E07B12"/>
          </a:solidFill>
          <a:ln cap="flat" cmpd="sng" w="12700">
            <a:solidFill>
              <a:srgbClr val="E07B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9"/>
          <p:cNvSpPr txBox="1"/>
          <p:nvPr/>
        </p:nvSpPr>
        <p:spPr>
          <a:xfrm>
            <a:off x="2640330" y="3778758"/>
            <a:ext cx="260604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9"/>
          <p:cNvSpPr txBox="1"/>
          <p:nvPr/>
        </p:nvSpPr>
        <p:spPr>
          <a:xfrm>
            <a:off x="2983230" y="3765042"/>
            <a:ext cx="19888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Rank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9"/>
          <p:cNvSpPr txBox="1"/>
          <p:nvPr/>
        </p:nvSpPr>
        <p:spPr>
          <a:xfrm>
            <a:off x="2983230" y="3970782"/>
            <a:ext cx="195453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each missing skill by Δ match × ₹ impact from CompIntel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 txBox="1"/>
          <p:nvPr/>
        </p:nvSpPr>
        <p:spPr>
          <a:xfrm>
            <a:off x="5143500" y="960120"/>
            <a:ext cx="36553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CURRICULUMSYNC — SYLLABUS VS MARKET DEMAND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3" name="Google Shape;33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43500" y="1179576"/>
            <a:ext cx="3655314" cy="216027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9"/>
          <p:cNvSpPr/>
          <p:nvPr/>
        </p:nvSpPr>
        <p:spPr>
          <a:xfrm>
            <a:off x="5143500" y="3463290"/>
            <a:ext cx="3655314" cy="123444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 cap="flat" cmpd="sng" w="9525">
            <a:solidFill>
              <a:srgbClr val="D6DC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00000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9"/>
          <p:cNvSpPr/>
          <p:nvPr/>
        </p:nvSpPr>
        <p:spPr>
          <a:xfrm>
            <a:off x="5280660" y="3566160"/>
            <a:ext cx="329184" cy="329184"/>
          </a:xfrm>
          <a:prstGeom prst="ellipse">
            <a:avLst/>
          </a:prstGeom>
          <a:solidFill>
            <a:srgbClr val="B42318"/>
          </a:solidFill>
          <a:ln cap="flat" cmpd="sng" w="12700">
            <a:solidFill>
              <a:srgbClr val="B423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6" name="Google Shape;336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66248" y="3651748"/>
            <a:ext cx="158008" cy="158008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9"/>
          <p:cNvSpPr txBox="1"/>
          <p:nvPr/>
        </p:nvSpPr>
        <p:spPr>
          <a:xfrm>
            <a:off x="5692140" y="3566160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Auto-generated Dean / HOD report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9"/>
          <p:cNvSpPr txBox="1"/>
          <p:nvPr/>
        </p:nvSpPr>
        <p:spPr>
          <a:xfrm>
            <a:off x="5280660" y="3963924"/>
            <a:ext cx="3429000" cy="720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Keep: </a:t>
            </a:r>
            <a:r>
              <a:rPr b="0" i="0" lang="en" sz="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courses already aligned with hiring demand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B2A4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Add: </a:t>
            </a:r>
            <a:r>
              <a:rPr b="0" i="0" lang="en" sz="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missing market skills — MLOps, cloud, LLM apps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B2A4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Electives: </a:t>
            </a:r>
            <a:r>
              <a:rPr b="0" i="0" lang="en" sz="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suggested and mapped to ESCO skills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9"/>
          <p:cNvSpPr txBox="1"/>
          <p:nvPr/>
        </p:nvSpPr>
        <p:spPr>
          <a:xfrm>
            <a:off x="2640330" y="4690872"/>
            <a:ext cx="41148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600"/>
              <a:buFont typeface="Calibri"/>
              <a:buNone/>
            </a:pPr>
            <a:r>
              <a:rPr b="0" i="1" lang="en" sz="600" u="none" cap="none" strike="noStrike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Sample outputs from the prototype on a representative CS curriculum.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0" name="Google Shape;340;p9"/>
          <p:cNvPicPr preferRelativeResize="0"/>
          <p:nvPr/>
        </p:nvPicPr>
        <p:blipFill rotWithShape="1">
          <a:blip r:embed="rId6">
            <a:alphaModFix/>
          </a:blip>
          <a:srcRect b="18969" l="8265" r="0" t="0"/>
          <a:stretch/>
        </p:blipFill>
        <p:spPr>
          <a:xfrm>
            <a:off x="480050" y="116548"/>
            <a:ext cx="1097274" cy="32235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r="14100000" dist="19050">
              <a:srgbClr val="000000">
                <a:alpha val="48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0"/>
          <p:cNvSpPr/>
          <p:nvPr/>
        </p:nvSpPr>
        <p:spPr>
          <a:xfrm>
            <a:off x="7255764" y="246888"/>
            <a:ext cx="1543050" cy="219456"/>
          </a:xfrm>
          <a:prstGeom prst="roundRect">
            <a:avLst>
              <a:gd fmla="val 25000" name="adj"/>
            </a:avLst>
          </a:prstGeom>
          <a:solidFill>
            <a:srgbClr val="FDF1E4"/>
          </a:solidFill>
          <a:ln cap="flat" cmpd="sng" w="9525">
            <a:solidFill>
              <a:srgbClr val="E07B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0"/>
          <p:cNvSpPr txBox="1"/>
          <p:nvPr/>
        </p:nvSpPr>
        <p:spPr>
          <a:xfrm>
            <a:off x="7255764" y="246888"/>
            <a:ext cx="154305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7B12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E07B12"/>
                </a:solidFill>
                <a:latin typeface="Arial"/>
                <a:ea typeface="Arial"/>
                <a:cs typeface="Arial"/>
                <a:sym typeface="Arial"/>
              </a:rPr>
              <a:t>BUILD FOR BHARAT 2.0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0"/>
          <p:cNvSpPr txBox="1"/>
          <p:nvPr/>
        </p:nvSpPr>
        <p:spPr>
          <a:xfrm>
            <a:off x="1851660" y="164592"/>
            <a:ext cx="543839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100"/>
              <a:buFont typeface="Cambria"/>
              <a:buNone/>
            </a:pPr>
            <a:r>
              <a:rPr b="1" lang="en" sz="2100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AGENTIC CAREER COUNSELOR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0"/>
          <p:cNvSpPr txBox="1"/>
          <p:nvPr/>
        </p:nvSpPr>
        <p:spPr>
          <a:xfrm>
            <a:off x="1028700" y="576072"/>
            <a:ext cx="708431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1100"/>
              <a:buFont typeface="Calibri"/>
              <a:buNone/>
            </a:pPr>
            <a:r>
              <a:rPr i="1" lang="en" sz="1100">
                <a:solidFill>
                  <a:srgbClr val="2F5597"/>
                </a:solidFill>
                <a:latin typeface="Calibri"/>
                <a:ea typeface="Calibri"/>
                <a:cs typeface="Calibri"/>
                <a:sym typeface="Calibri"/>
              </a:rPr>
              <a:t>“Every number comes from our trained models — not generated, computed.”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0"/>
          <p:cNvSpPr txBox="1"/>
          <p:nvPr/>
        </p:nvSpPr>
        <p:spPr>
          <a:xfrm>
            <a:off x="342900" y="4855464"/>
            <a:ext cx="41148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700"/>
              <a:buFont typeface="Calibri"/>
              <a:buNone/>
            </a:pPr>
            <a:r>
              <a:rPr lang="en" sz="700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Vriddhi</a:t>
            </a:r>
            <a:r>
              <a:rPr b="0" i="0" lang="en" sz="700" u="none" cap="none" strike="noStrike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  ·  Workforce Intelligence for Bharat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0"/>
          <p:cNvSpPr txBox="1"/>
          <p:nvPr/>
        </p:nvSpPr>
        <p:spPr>
          <a:xfrm>
            <a:off x="8455914" y="4855464"/>
            <a:ext cx="3429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0"/>
          <p:cNvSpPr txBox="1"/>
          <p:nvPr/>
        </p:nvSpPr>
        <p:spPr>
          <a:xfrm>
            <a:off x="342900" y="960120"/>
            <a:ext cx="48006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AGENTIC PIPELINE — NOT A CHATBOT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3" name="Google Shape;353;p10"/>
          <p:cNvCxnSpPr/>
          <p:nvPr/>
        </p:nvCxnSpPr>
        <p:spPr>
          <a:xfrm>
            <a:off x="486918" y="1536192"/>
            <a:ext cx="0" cy="349758"/>
          </a:xfrm>
          <a:prstGeom prst="straightConnector1">
            <a:avLst/>
          </a:prstGeom>
          <a:noFill/>
          <a:ln cap="flat" cmpd="sng" w="19050">
            <a:solidFill>
              <a:srgbClr val="D6DC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4" name="Google Shape;354;p10"/>
          <p:cNvSpPr/>
          <p:nvPr/>
        </p:nvSpPr>
        <p:spPr>
          <a:xfrm>
            <a:off x="342900" y="1248156"/>
            <a:ext cx="288036" cy="288036"/>
          </a:xfrm>
          <a:prstGeom prst="ellipse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0"/>
          <p:cNvSpPr txBox="1"/>
          <p:nvPr/>
        </p:nvSpPr>
        <p:spPr>
          <a:xfrm>
            <a:off x="342900" y="1248156"/>
            <a:ext cx="288036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0"/>
          <p:cNvSpPr txBox="1"/>
          <p:nvPr/>
        </p:nvSpPr>
        <p:spPr>
          <a:xfrm>
            <a:off x="754380" y="1234440"/>
            <a:ext cx="40462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User asks in plain language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0"/>
          <p:cNvSpPr txBox="1"/>
          <p:nvPr/>
        </p:nvSpPr>
        <p:spPr>
          <a:xfrm>
            <a:off x="754380" y="1453896"/>
            <a:ext cx="40462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 know Python and SQL. How well do I match a Data Scientist role?</a:t>
            </a:r>
            <a:endParaRPr b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8" name="Google Shape;358;p10"/>
          <p:cNvCxnSpPr/>
          <p:nvPr/>
        </p:nvCxnSpPr>
        <p:spPr>
          <a:xfrm>
            <a:off x="486918" y="2173986"/>
            <a:ext cx="0" cy="349758"/>
          </a:xfrm>
          <a:prstGeom prst="straightConnector1">
            <a:avLst/>
          </a:prstGeom>
          <a:noFill/>
          <a:ln cap="flat" cmpd="sng" w="19050">
            <a:solidFill>
              <a:srgbClr val="D6DC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9" name="Google Shape;359;p10"/>
          <p:cNvSpPr/>
          <p:nvPr/>
        </p:nvSpPr>
        <p:spPr>
          <a:xfrm>
            <a:off x="342900" y="1885950"/>
            <a:ext cx="288036" cy="288036"/>
          </a:xfrm>
          <a:prstGeom prst="ellipse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0"/>
          <p:cNvSpPr txBox="1"/>
          <p:nvPr/>
        </p:nvSpPr>
        <p:spPr>
          <a:xfrm>
            <a:off x="342900" y="1885950"/>
            <a:ext cx="288036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0"/>
          <p:cNvSpPr txBox="1"/>
          <p:nvPr/>
        </p:nvSpPr>
        <p:spPr>
          <a:xfrm>
            <a:off x="754380" y="1872234"/>
            <a:ext cx="40462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alibri"/>
              <a:buNone/>
            </a:pPr>
            <a:r>
              <a:rPr b="1" lang="en" sz="10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Our reasoning engine parses intent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0"/>
          <p:cNvSpPr txBox="1"/>
          <p:nvPr/>
        </p:nvSpPr>
        <p:spPr>
          <a:xfrm>
            <a:off x="754380" y="2091690"/>
            <a:ext cx="40462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Vriddhi-Counselor autonomously picks the right intelligence</a:t>
            </a:r>
            <a:endParaRPr sz="800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modules — no hard-coded routing, no keyword matching.</a:t>
            </a:r>
            <a:endParaRPr sz="800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3" name="Google Shape;363;p10"/>
          <p:cNvCxnSpPr/>
          <p:nvPr/>
        </p:nvCxnSpPr>
        <p:spPr>
          <a:xfrm>
            <a:off x="486918" y="2811780"/>
            <a:ext cx="0" cy="349758"/>
          </a:xfrm>
          <a:prstGeom prst="straightConnector1">
            <a:avLst/>
          </a:prstGeom>
          <a:noFill/>
          <a:ln cap="flat" cmpd="sng" w="19050">
            <a:solidFill>
              <a:srgbClr val="D6DC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4" name="Google Shape;364;p10"/>
          <p:cNvSpPr/>
          <p:nvPr/>
        </p:nvSpPr>
        <p:spPr>
          <a:xfrm>
            <a:off x="342900" y="2523744"/>
            <a:ext cx="288036" cy="288036"/>
          </a:xfrm>
          <a:prstGeom prst="ellipse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0"/>
          <p:cNvSpPr txBox="1"/>
          <p:nvPr/>
        </p:nvSpPr>
        <p:spPr>
          <a:xfrm>
            <a:off x="342900" y="2523744"/>
            <a:ext cx="288036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0"/>
          <p:cNvSpPr txBox="1"/>
          <p:nvPr/>
        </p:nvSpPr>
        <p:spPr>
          <a:xfrm>
            <a:off x="754380" y="2510028"/>
            <a:ext cx="40462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Function calling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0"/>
          <p:cNvSpPr txBox="1"/>
          <p:nvPr/>
        </p:nvSpPr>
        <p:spPr>
          <a:xfrm>
            <a:off x="754380" y="2729484"/>
            <a:ext cx="40462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Calls TalentMatch + CompIntel (and SkillRadar if trends are asked).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8" name="Google Shape;368;p10"/>
          <p:cNvCxnSpPr/>
          <p:nvPr/>
        </p:nvCxnSpPr>
        <p:spPr>
          <a:xfrm>
            <a:off x="486918" y="3449574"/>
            <a:ext cx="0" cy="349758"/>
          </a:xfrm>
          <a:prstGeom prst="straightConnector1">
            <a:avLst/>
          </a:prstGeom>
          <a:noFill/>
          <a:ln cap="flat" cmpd="sng" w="19050">
            <a:solidFill>
              <a:srgbClr val="D6DC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9" name="Google Shape;369;p10"/>
          <p:cNvSpPr/>
          <p:nvPr/>
        </p:nvSpPr>
        <p:spPr>
          <a:xfrm>
            <a:off x="342900" y="3161538"/>
            <a:ext cx="288036" cy="288036"/>
          </a:xfrm>
          <a:prstGeom prst="ellipse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0"/>
          <p:cNvSpPr txBox="1"/>
          <p:nvPr/>
        </p:nvSpPr>
        <p:spPr>
          <a:xfrm>
            <a:off x="342900" y="3161538"/>
            <a:ext cx="288036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0"/>
          <p:cNvSpPr txBox="1"/>
          <p:nvPr/>
        </p:nvSpPr>
        <p:spPr>
          <a:xfrm>
            <a:off x="754380" y="3147822"/>
            <a:ext cx="40462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ChromaDB retrieval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0"/>
          <p:cNvSpPr txBox="1"/>
          <p:nvPr/>
        </p:nvSpPr>
        <p:spPr>
          <a:xfrm>
            <a:off x="754380" y="3367278"/>
            <a:ext cx="40462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Pulls market context, e.g. “ML demand grew 23% in Indian postings.”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0"/>
          <p:cNvSpPr/>
          <p:nvPr/>
        </p:nvSpPr>
        <p:spPr>
          <a:xfrm>
            <a:off x="342900" y="3799332"/>
            <a:ext cx="288036" cy="288036"/>
          </a:xfrm>
          <a:prstGeom prst="ellipse">
            <a:avLst/>
          </a:prstGeom>
          <a:solidFill>
            <a:srgbClr val="15803D"/>
          </a:solidFill>
          <a:ln cap="flat" cmpd="sng" w="12700">
            <a:solidFill>
              <a:srgbClr val="1580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0"/>
          <p:cNvSpPr txBox="1"/>
          <p:nvPr/>
        </p:nvSpPr>
        <p:spPr>
          <a:xfrm>
            <a:off x="342900" y="3799332"/>
            <a:ext cx="288036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0"/>
          <p:cNvSpPr txBox="1"/>
          <p:nvPr/>
        </p:nvSpPr>
        <p:spPr>
          <a:xfrm>
            <a:off x="754380" y="3785616"/>
            <a:ext cx="40462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Grounded answer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0"/>
          <p:cNvSpPr txBox="1"/>
          <p:nvPr/>
        </p:nvSpPr>
        <p:spPr>
          <a:xfrm>
            <a:off x="754380" y="4005072"/>
            <a:ext cx="40462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Every number traces back to a module output or a retrieved chunk, tagged with its source.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0"/>
          <p:cNvSpPr/>
          <p:nvPr/>
        </p:nvSpPr>
        <p:spPr>
          <a:xfrm>
            <a:off x="342900" y="4389120"/>
            <a:ext cx="4526280" cy="308610"/>
          </a:xfrm>
          <a:prstGeom prst="roundRect">
            <a:avLst>
              <a:gd fmla="val 17778" name="adj"/>
            </a:avLst>
          </a:prstGeom>
          <a:solidFill>
            <a:srgbClr val="FDF1E4"/>
          </a:solidFill>
          <a:ln cap="flat" cmpd="sng" w="9525">
            <a:solidFill>
              <a:srgbClr val="E07B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0"/>
          <p:cNvSpPr txBox="1"/>
          <p:nvPr/>
        </p:nvSpPr>
        <p:spPr>
          <a:xfrm>
            <a:off x="445770" y="4389120"/>
            <a:ext cx="438912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5B06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9A5B06"/>
                </a:solidFill>
                <a:latin typeface="Calibri"/>
                <a:ea typeface="Calibri"/>
                <a:cs typeface="Calibri"/>
                <a:sym typeface="Calibri"/>
              </a:rPr>
              <a:t>Guardrail: the agent may only state numbers that a module returned — no free-floating LLM guesses.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0"/>
          <p:cNvSpPr/>
          <p:nvPr/>
        </p:nvSpPr>
        <p:spPr>
          <a:xfrm>
            <a:off x="5897880" y="925830"/>
            <a:ext cx="2125980" cy="3840480"/>
          </a:xfrm>
          <a:prstGeom prst="roundRect">
            <a:avLst>
              <a:gd fmla="val 10323" name="adj"/>
            </a:avLst>
          </a:prstGeom>
          <a:solidFill>
            <a:srgbClr val="0F172A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50800">
              <a:srgbClr val="000000">
                <a:alpha val="25098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0"/>
          <p:cNvSpPr/>
          <p:nvPr/>
        </p:nvSpPr>
        <p:spPr>
          <a:xfrm>
            <a:off x="5966460" y="994410"/>
            <a:ext cx="1988820" cy="3703320"/>
          </a:xfrm>
          <a:prstGeom prst="roundRect">
            <a:avLst>
              <a:gd fmla="val 8276" name="adj"/>
            </a:avLst>
          </a:prstGeom>
          <a:solidFill>
            <a:srgbClr val="F8FAFC"/>
          </a:solidFill>
          <a:ln cap="flat" cmpd="sng" w="12700">
            <a:solidFill>
              <a:srgbClr val="F8FA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0"/>
          <p:cNvSpPr/>
          <p:nvPr/>
        </p:nvSpPr>
        <p:spPr>
          <a:xfrm>
            <a:off x="6720850" y="1023013"/>
            <a:ext cx="480000" cy="115200"/>
          </a:xfrm>
          <a:prstGeom prst="roundRect">
            <a:avLst>
              <a:gd fmla="val 46154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0"/>
          <p:cNvSpPr txBox="1"/>
          <p:nvPr/>
        </p:nvSpPr>
        <p:spPr>
          <a:xfrm>
            <a:off x="6062472" y="1213866"/>
            <a:ext cx="1796796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1B2A4A"/>
                </a:solidFill>
              </a:rPr>
              <a:t>Vriddhi</a:t>
            </a:r>
            <a:r>
              <a:rPr b="1" i="0" lang="en" sz="9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 Counselor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0"/>
          <p:cNvSpPr txBox="1"/>
          <p:nvPr/>
        </p:nvSpPr>
        <p:spPr>
          <a:xfrm>
            <a:off x="6062472" y="1392174"/>
            <a:ext cx="1796796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600"/>
              <a:buFont typeface="Calibri"/>
              <a:buNone/>
            </a:pPr>
            <a:r>
              <a:rPr lang="en" sz="600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● live · pipeline-grounded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0"/>
          <p:cNvSpPr/>
          <p:nvPr/>
        </p:nvSpPr>
        <p:spPr>
          <a:xfrm>
            <a:off x="6371082" y="1591056"/>
            <a:ext cx="1488186" cy="493776"/>
          </a:xfrm>
          <a:prstGeom prst="roundRect">
            <a:avLst>
              <a:gd fmla="val 13889" name="adj"/>
            </a:avLst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0"/>
          <p:cNvSpPr txBox="1"/>
          <p:nvPr/>
        </p:nvSpPr>
        <p:spPr>
          <a:xfrm>
            <a:off x="6439662" y="1591056"/>
            <a:ext cx="13716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 know Python and SQL. How well do I match Data Scientist, and what should I learn next?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0"/>
          <p:cNvSpPr/>
          <p:nvPr/>
        </p:nvSpPr>
        <p:spPr>
          <a:xfrm>
            <a:off x="6062475" y="2173975"/>
            <a:ext cx="1748700" cy="1268700"/>
          </a:xfrm>
          <a:prstGeom prst="roundRect">
            <a:avLst>
              <a:gd fmla="val 5405" name="adj"/>
            </a:avLst>
          </a:prstGeom>
          <a:solidFill>
            <a:srgbClr val="EEF2F7"/>
          </a:solidFill>
          <a:ln cap="flat" cmpd="sng" w="12700">
            <a:solidFill>
              <a:srgbClr val="D6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0"/>
          <p:cNvSpPr txBox="1"/>
          <p:nvPr/>
        </p:nvSpPr>
        <p:spPr>
          <a:xfrm>
            <a:off x="6131052" y="2215134"/>
            <a:ext cx="1536300" cy="14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You match </a:t>
            </a:r>
            <a:r>
              <a:rPr b="1" i="0" lang="en" sz="600" u="none" cap="none" strike="noStrike">
                <a:solidFill>
                  <a:srgbClr val="E07B12"/>
                </a:solidFill>
                <a:latin typeface="Calibri"/>
                <a:ea typeface="Calibri"/>
                <a:cs typeface="Calibri"/>
                <a:sym typeface="Calibri"/>
              </a:rPr>
              <a:t>42%</a:t>
            </a:r>
            <a:r>
              <a:rPr b="0" i="0" lang="en" sz="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of the Data Scientist profile in Bengaluru.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"/>
              <a:buFont typeface="Calibri"/>
              <a:buNone/>
            </a:pPr>
            <a:r>
              <a:rPr b="0" i="0" lang="en" sz="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600"/>
              <a:buFont typeface="Calibri"/>
              <a:buNone/>
            </a:pPr>
            <a:r>
              <a:rPr b="1" i="0" lang="en" sz="6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Learn next: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600"/>
              <a:buFont typeface="Calibri"/>
              <a:buNone/>
            </a:pPr>
            <a:r>
              <a:rPr b="1" i="0" lang="en" sz="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1. Machine Learning  </a:t>
            </a:r>
            <a:r>
              <a:rPr b="1" i="0" lang="en" sz="600" u="none" cap="none" strike="noStrike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+18% · +₹2.1L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600"/>
              <a:buFont typeface="Calibri"/>
              <a:buNone/>
            </a:pPr>
            <a:r>
              <a:rPr b="1" i="0" lang="en" sz="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2. Data Visualization  </a:t>
            </a:r>
            <a:r>
              <a:rPr b="1" i="0" lang="en" sz="600" u="none" cap="none" strike="noStrike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+14% · +₹1.2L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600"/>
              <a:buFont typeface="Calibri"/>
              <a:buNone/>
            </a:pPr>
            <a:r>
              <a:rPr b="1" i="0" lang="en" sz="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3. Applied Statistics  </a:t>
            </a:r>
            <a:r>
              <a:rPr b="1" i="0" lang="en" sz="600" u="none" cap="none" strike="noStrike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+12% · +₹1.2L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"/>
              <a:buFont typeface="Calibri"/>
              <a:buNone/>
            </a:pPr>
            <a:r>
              <a:rPr b="0" i="0" lang="en" sz="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600"/>
              <a:buFont typeface="Calibri"/>
              <a:buNone/>
            </a:pPr>
            <a:r>
              <a:rPr b="1" i="0" lang="en" sz="6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Est. total impact: +₹4.5L / yr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0"/>
          <p:cNvSpPr/>
          <p:nvPr/>
        </p:nvSpPr>
        <p:spPr>
          <a:xfrm>
            <a:off x="6131052" y="3168396"/>
            <a:ext cx="582930" cy="164592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9525">
            <a:solidFill>
              <a:srgbClr val="D6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0"/>
          <p:cNvSpPr txBox="1"/>
          <p:nvPr/>
        </p:nvSpPr>
        <p:spPr>
          <a:xfrm>
            <a:off x="6131052" y="3168396"/>
            <a:ext cx="58293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500"/>
              <a:buFont typeface="Calibri"/>
              <a:buNone/>
            </a:pPr>
            <a:r>
              <a:rPr b="1" i="0" lang="en" sz="5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TalentMatch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0"/>
          <p:cNvSpPr/>
          <p:nvPr/>
        </p:nvSpPr>
        <p:spPr>
          <a:xfrm>
            <a:off x="6748272" y="3168396"/>
            <a:ext cx="493776" cy="164592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9525">
            <a:solidFill>
              <a:srgbClr val="D6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0"/>
          <p:cNvSpPr txBox="1"/>
          <p:nvPr/>
        </p:nvSpPr>
        <p:spPr>
          <a:xfrm>
            <a:off x="6748272" y="3168396"/>
            <a:ext cx="49377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500"/>
              <a:buFont typeface="Calibri"/>
              <a:buNone/>
            </a:pPr>
            <a:r>
              <a:rPr b="1" i="0" lang="en" sz="5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CompIntel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0"/>
          <p:cNvSpPr/>
          <p:nvPr/>
        </p:nvSpPr>
        <p:spPr>
          <a:xfrm>
            <a:off x="7276338" y="3168396"/>
            <a:ext cx="493776" cy="164592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9525">
            <a:solidFill>
              <a:srgbClr val="D6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0"/>
          <p:cNvSpPr txBox="1"/>
          <p:nvPr/>
        </p:nvSpPr>
        <p:spPr>
          <a:xfrm>
            <a:off x="7276338" y="3168396"/>
            <a:ext cx="49377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500"/>
              <a:buFont typeface="Calibri"/>
              <a:buNone/>
            </a:pPr>
            <a:r>
              <a:rPr b="1" i="0" lang="en" sz="5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ChromaDB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0"/>
          <p:cNvSpPr/>
          <p:nvPr/>
        </p:nvSpPr>
        <p:spPr>
          <a:xfrm>
            <a:off x="6713982" y="3545586"/>
            <a:ext cx="1145286" cy="288036"/>
          </a:xfrm>
          <a:prstGeom prst="roundRect">
            <a:avLst>
              <a:gd fmla="val 23810" name="adj"/>
            </a:avLst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0"/>
          <p:cNvSpPr txBox="1"/>
          <p:nvPr/>
        </p:nvSpPr>
        <p:spPr>
          <a:xfrm>
            <a:off x="6782562" y="3545586"/>
            <a:ext cx="1042416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if I add Kubernetes?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0"/>
          <p:cNvSpPr txBox="1"/>
          <p:nvPr/>
        </p:nvSpPr>
        <p:spPr>
          <a:xfrm>
            <a:off x="6062472" y="3922776"/>
            <a:ext cx="1796796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600"/>
              <a:buFont typeface="Calibri"/>
              <a:buNone/>
            </a:pPr>
            <a:r>
              <a:rPr b="0" i="1" lang="en" sz="600" u="none" cap="none" strike="noStrike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Counselor is typing…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0"/>
          <p:cNvSpPr/>
          <p:nvPr/>
        </p:nvSpPr>
        <p:spPr>
          <a:xfrm>
            <a:off x="6062472" y="4231386"/>
            <a:ext cx="1796796" cy="27432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D6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0"/>
          <p:cNvSpPr txBox="1"/>
          <p:nvPr/>
        </p:nvSpPr>
        <p:spPr>
          <a:xfrm>
            <a:off x="6165342" y="4231386"/>
            <a:ext cx="15910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Ask about any role, skill or city…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9" name="Google Shape;399;p10"/>
          <p:cNvPicPr preferRelativeResize="0"/>
          <p:nvPr/>
        </p:nvPicPr>
        <p:blipFill rotWithShape="1">
          <a:blip r:embed="rId3">
            <a:alphaModFix/>
          </a:blip>
          <a:srcRect b="18969" l="8265" r="0" t="0"/>
          <a:stretch/>
        </p:blipFill>
        <p:spPr>
          <a:xfrm>
            <a:off x="342900" y="116548"/>
            <a:ext cx="1097274" cy="32235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r="14100000" dist="19050">
              <a:srgbClr val="000000">
                <a:alpha val="48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1"/>
          <p:cNvSpPr/>
          <p:nvPr/>
        </p:nvSpPr>
        <p:spPr>
          <a:xfrm>
            <a:off x="7255764" y="246888"/>
            <a:ext cx="1543050" cy="219456"/>
          </a:xfrm>
          <a:prstGeom prst="roundRect">
            <a:avLst>
              <a:gd fmla="val 25000" name="adj"/>
            </a:avLst>
          </a:prstGeom>
          <a:solidFill>
            <a:srgbClr val="FDF1E4"/>
          </a:solidFill>
          <a:ln cap="flat" cmpd="sng" w="9525">
            <a:solidFill>
              <a:srgbClr val="E07B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1"/>
          <p:cNvSpPr txBox="1"/>
          <p:nvPr/>
        </p:nvSpPr>
        <p:spPr>
          <a:xfrm>
            <a:off x="7255764" y="246888"/>
            <a:ext cx="154305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7B12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E07B12"/>
                </a:solidFill>
                <a:latin typeface="Arial"/>
                <a:ea typeface="Arial"/>
                <a:cs typeface="Arial"/>
                <a:sym typeface="Arial"/>
              </a:rPr>
              <a:t>BUILD FOR BHARAT 2.0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1"/>
          <p:cNvSpPr txBox="1"/>
          <p:nvPr/>
        </p:nvSpPr>
        <p:spPr>
          <a:xfrm>
            <a:off x="1851660" y="164592"/>
            <a:ext cx="543839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100"/>
              <a:buFont typeface="Cambria"/>
              <a:buNone/>
            </a:pPr>
            <a:r>
              <a:rPr b="1" i="0" lang="en" sz="21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FEASIBILITY &amp; VIABILITY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1"/>
          <p:cNvSpPr txBox="1"/>
          <p:nvPr/>
        </p:nvSpPr>
        <p:spPr>
          <a:xfrm>
            <a:off x="1028700" y="576072"/>
            <a:ext cx="708431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1100"/>
              <a:buFont typeface="Calibri"/>
              <a:buNone/>
            </a:pPr>
            <a:r>
              <a:rPr i="1" lang="en" sz="1100">
                <a:solidFill>
                  <a:srgbClr val="2F5597"/>
                </a:solidFill>
                <a:latin typeface="Calibri"/>
                <a:ea typeface="Calibri"/>
                <a:cs typeface="Calibri"/>
                <a:sym typeface="Calibri"/>
              </a:rPr>
              <a:t>“Open-source end to end. Every ML model trained on Indian data by our team.”</a:t>
            </a:r>
            <a:endParaRPr b="0" i="1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1"/>
          <p:cNvSpPr txBox="1"/>
          <p:nvPr/>
        </p:nvSpPr>
        <p:spPr>
          <a:xfrm>
            <a:off x="342900" y="4855464"/>
            <a:ext cx="41148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700"/>
              <a:buFont typeface="Calibri"/>
              <a:buNone/>
            </a:pPr>
            <a:r>
              <a:rPr lang="en" sz="700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Vriddhi</a:t>
            </a:r>
            <a:r>
              <a:rPr b="0" i="0" lang="en" sz="700" u="none" cap="none" strike="noStrike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  ·  Workforce Intelligence for Bharat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1"/>
          <p:cNvSpPr txBox="1"/>
          <p:nvPr/>
        </p:nvSpPr>
        <p:spPr>
          <a:xfrm>
            <a:off x="8455914" y="4855464"/>
            <a:ext cx="3429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1"/>
          <p:cNvSpPr/>
          <p:nvPr/>
        </p:nvSpPr>
        <p:spPr>
          <a:xfrm>
            <a:off x="342900" y="960120"/>
            <a:ext cx="2011109" cy="720090"/>
          </a:xfrm>
          <a:prstGeom prst="roundRect">
            <a:avLst>
              <a:gd fmla="val 7619" name="adj"/>
            </a:avLst>
          </a:prstGeom>
          <a:solidFill>
            <a:srgbClr val="1B2A4A"/>
          </a:solidFill>
          <a:ln cap="flat" cmpd="sng" w="9525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00000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1"/>
          <p:cNvSpPr txBox="1"/>
          <p:nvPr/>
        </p:nvSpPr>
        <p:spPr>
          <a:xfrm>
            <a:off x="480060" y="1001268"/>
            <a:ext cx="78867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₹0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1"/>
          <p:cNvSpPr txBox="1"/>
          <p:nvPr/>
        </p:nvSpPr>
        <p:spPr>
          <a:xfrm>
            <a:off x="1268730" y="1001268"/>
            <a:ext cx="102870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3EE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DCE3EE"/>
                </a:solidFill>
                <a:latin typeface="Calibri"/>
                <a:ea typeface="Calibri"/>
                <a:cs typeface="Calibri"/>
                <a:sym typeface="Calibri"/>
              </a:rPr>
              <a:t>Licensing cost — 100% open-source stack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1"/>
          <p:cNvSpPr/>
          <p:nvPr/>
        </p:nvSpPr>
        <p:spPr>
          <a:xfrm>
            <a:off x="2491168" y="960120"/>
            <a:ext cx="2011109" cy="720090"/>
          </a:xfrm>
          <a:prstGeom prst="roundRect">
            <a:avLst>
              <a:gd fmla="val 7619" name="adj"/>
            </a:avLst>
          </a:prstGeom>
          <a:solidFill>
            <a:srgbClr val="1B2A4A"/>
          </a:solidFill>
          <a:ln cap="flat" cmpd="sng" w="9525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00000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1"/>
          <p:cNvSpPr txBox="1"/>
          <p:nvPr/>
        </p:nvSpPr>
        <p:spPr>
          <a:xfrm>
            <a:off x="2628328" y="1001268"/>
            <a:ext cx="78867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1"/>
          <p:cNvSpPr txBox="1"/>
          <p:nvPr/>
        </p:nvSpPr>
        <p:spPr>
          <a:xfrm>
            <a:off x="3416999" y="1001268"/>
            <a:ext cx="102870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3EE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DCE3EE"/>
                </a:solidFill>
                <a:latin typeface="Calibri"/>
                <a:ea typeface="Calibri"/>
                <a:cs typeface="Calibri"/>
                <a:sym typeface="Calibri"/>
              </a:rPr>
              <a:t>Custom ML pipelines trained in-house (Ensemble + NER)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1"/>
          <p:cNvSpPr/>
          <p:nvPr/>
        </p:nvSpPr>
        <p:spPr>
          <a:xfrm>
            <a:off x="4639437" y="960120"/>
            <a:ext cx="2011109" cy="720090"/>
          </a:xfrm>
          <a:prstGeom prst="roundRect">
            <a:avLst>
              <a:gd fmla="val 7619" name="adj"/>
            </a:avLst>
          </a:prstGeom>
          <a:solidFill>
            <a:srgbClr val="1B2A4A"/>
          </a:solidFill>
          <a:ln cap="flat" cmpd="sng" w="9525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00000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1"/>
          <p:cNvSpPr txBox="1"/>
          <p:nvPr/>
        </p:nvSpPr>
        <p:spPr>
          <a:xfrm>
            <a:off x="4776597" y="1001268"/>
            <a:ext cx="78867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~</a:t>
            </a:r>
            <a:r>
              <a:rPr b="1" lang="en" sz="2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15K+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1"/>
          <p:cNvSpPr txBox="1"/>
          <p:nvPr/>
        </p:nvSpPr>
        <p:spPr>
          <a:xfrm>
            <a:off x="5593542" y="1025268"/>
            <a:ext cx="10287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3EE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DCE3EE"/>
                </a:solidFill>
                <a:latin typeface="Calibri"/>
                <a:ea typeface="Calibri"/>
                <a:cs typeface="Calibri"/>
                <a:sym typeface="Calibri"/>
              </a:rPr>
              <a:t>Indian job postings processed through our pipeline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1"/>
          <p:cNvSpPr/>
          <p:nvPr/>
        </p:nvSpPr>
        <p:spPr>
          <a:xfrm>
            <a:off x="6787705" y="960120"/>
            <a:ext cx="2011109" cy="720090"/>
          </a:xfrm>
          <a:prstGeom prst="roundRect">
            <a:avLst>
              <a:gd fmla="val 7619" name="adj"/>
            </a:avLst>
          </a:prstGeom>
          <a:solidFill>
            <a:srgbClr val="1B2A4A"/>
          </a:solidFill>
          <a:ln cap="flat" cmpd="sng" w="9525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00000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1"/>
          <p:cNvSpPr txBox="1"/>
          <p:nvPr/>
        </p:nvSpPr>
        <p:spPr>
          <a:xfrm>
            <a:off x="6924866" y="1001268"/>
            <a:ext cx="78867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10+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1"/>
          <p:cNvSpPr txBox="1"/>
          <p:nvPr/>
        </p:nvSpPr>
        <p:spPr>
          <a:xfrm>
            <a:off x="7713536" y="1001268"/>
            <a:ext cx="102870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3EE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DCE3EE"/>
                </a:solidFill>
                <a:latin typeface="Calibri"/>
                <a:ea typeface="Calibri"/>
                <a:cs typeface="Calibri"/>
                <a:sym typeface="Calibri"/>
              </a:rPr>
              <a:t>REST endpoints with OpenAPI docs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1"/>
          <p:cNvSpPr txBox="1"/>
          <p:nvPr/>
        </p:nvSpPr>
        <p:spPr>
          <a:xfrm>
            <a:off x="342900" y="1851660"/>
            <a:ext cx="4114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TECH STACK BY LAYER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24" name="Google Shape;424;p11"/>
          <p:cNvGraphicFramePr/>
          <p:nvPr/>
        </p:nvGraphicFramePr>
        <p:xfrm>
          <a:off x="342900" y="20916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{14A76909-1354-41D0-A7A0-E654AC0BD8A4}</a:tableStyleId>
              </a:tblPr>
              <a:tblGrid>
                <a:gridCol w="1062975"/>
                <a:gridCol w="3120375"/>
              </a:tblGrid>
              <a:tr h="281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Layer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Tools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</a:tr>
              <a:tr h="281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MongoDB · pandas · ChromaDB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1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NLP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ESCO taxonomy · spaCy · sentence-transformers (MiniLM-L6-v2)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</a:tr>
              <a:tr h="281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Reasoning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Agentic function calling · ChromaDB retrieval · grounded synthesis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1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Embeddings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sentence-transformers (MiniLM-L6-v2) · cosine similarity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</a:tr>
              <a:tr h="281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ML + MLOps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scikit-learn · XGBoost · statsmodels · SHAP · MLflow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1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Backend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FastAPI (Python) · OpenAPI / Swagger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</a:tr>
              <a:tr h="281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Frontend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Streamlit · plotly · pyvis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1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Reports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fpdf2 — automated PDF generation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425" name="Google Shape;425;p11"/>
          <p:cNvSpPr txBox="1"/>
          <p:nvPr/>
        </p:nvSpPr>
        <p:spPr>
          <a:xfrm>
            <a:off x="4732020" y="185166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RISKS &amp; HOW WE HANDLE THEM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1"/>
          <p:cNvSpPr/>
          <p:nvPr/>
        </p:nvSpPr>
        <p:spPr>
          <a:xfrm>
            <a:off x="4732020" y="2091690"/>
            <a:ext cx="1995678" cy="1200150"/>
          </a:xfrm>
          <a:prstGeom prst="roundRect">
            <a:avLst>
              <a:gd fmla="val 4571" name="adj"/>
            </a:avLst>
          </a:prstGeom>
          <a:solidFill>
            <a:srgbClr val="FDF4E3"/>
          </a:solidFill>
          <a:ln cap="flat" cmpd="sng" w="9525">
            <a:solidFill>
              <a:srgbClr val="D4A24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00000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1"/>
          <p:cNvSpPr txBox="1"/>
          <p:nvPr/>
        </p:nvSpPr>
        <p:spPr>
          <a:xfrm>
            <a:off x="4855464" y="2187702"/>
            <a:ext cx="178308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5B06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9A5B06"/>
                </a:solidFill>
                <a:latin typeface="Calibri"/>
                <a:ea typeface="Calibri"/>
                <a:cs typeface="Calibri"/>
                <a:sym typeface="Calibri"/>
              </a:rPr>
              <a:t>Data freshness &amp; scraping limits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1"/>
          <p:cNvSpPr txBox="1"/>
          <p:nvPr/>
        </p:nvSpPr>
        <p:spPr>
          <a:xfrm>
            <a:off x="4855464" y="2516886"/>
            <a:ext cx="1783080" cy="720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Public datasets + official APIs on a scheduled batch refresh — no fragile live scraping.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1"/>
          <p:cNvSpPr/>
          <p:nvPr/>
        </p:nvSpPr>
        <p:spPr>
          <a:xfrm>
            <a:off x="6803136" y="2091690"/>
            <a:ext cx="1995678" cy="1200150"/>
          </a:xfrm>
          <a:prstGeom prst="roundRect">
            <a:avLst>
              <a:gd fmla="val 4571" name="adj"/>
            </a:avLst>
          </a:prstGeom>
          <a:solidFill>
            <a:srgbClr val="FDF4E3"/>
          </a:solidFill>
          <a:ln cap="flat" cmpd="sng" w="9525">
            <a:solidFill>
              <a:srgbClr val="D4A24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00000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1"/>
          <p:cNvSpPr txBox="1"/>
          <p:nvPr/>
        </p:nvSpPr>
        <p:spPr>
          <a:xfrm>
            <a:off x="6926580" y="2187702"/>
            <a:ext cx="178308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5B06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9A5B06"/>
                </a:solidFill>
                <a:latin typeface="Calibri"/>
                <a:ea typeface="Calibri"/>
                <a:cs typeface="Calibri"/>
                <a:sym typeface="Calibri"/>
              </a:rPr>
              <a:t>Small-model hallucination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1"/>
          <p:cNvSpPr txBox="1"/>
          <p:nvPr/>
        </p:nvSpPr>
        <p:spPr>
          <a:xfrm>
            <a:off x="6933480" y="2479174"/>
            <a:ext cx="17832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The counselor may only state numbers a module returned; architecture enforces grounded answers only.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1"/>
          <p:cNvSpPr/>
          <p:nvPr/>
        </p:nvSpPr>
        <p:spPr>
          <a:xfrm>
            <a:off x="4732020" y="3394710"/>
            <a:ext cx="1995678" cy="1200150"/>
          </a:xfrm>
          <a:prstGeom prst="roundRect">
            <a:avLst>
              <a:gd fmla="val 4571" name="adj"/>
            </a:avLst>
          </a:prstGeom>
          <a:solidFill>
            <a:srgbClr val="FDF4E3"/>
          </a:solidFill>
          <a:ln cap="flat" cmpd="sng" w="9525">
            <a:solidFill>
              <a:srgbClr val="D4A24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00000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1"/>
          <p:cNvSpPr txBox="1"/>
          <p:nvPr/>
        </p:nvSpPr>
        <p:spPr>
          <a:xfrm>
            <a:off x="4855464" y="3490722"/>
            <a:ext cx="178308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5B06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9A5B06"/>
                </a:solidFill>
                <a:latin typeface="Calibri"/>
                <a:ea typeface="Calibri"/>
                <a:cs typeface="Calibri"/>
                <a:sym typeface="Calibri"/>
              </a:rPr>
              <a:t>Metro-skewed salary data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1"/>
          <p:cNvSpPr txBox="1"/>
          <p:nvPr/>
        </p:nvSpPr>
        <p:spPr>
          <a:xfrm>
            <a:off x="4855464" y="3819906"/>
            <a:ext cx="1783080" cy="720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City-tier features, confidence bands shown to users, SHAP exposes bias.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1"/>
          <p:cNvSpPr/>
          <p:nvPr/>
        </p:nvSpPr>
        <p:spPr>
          <a:xfrm>
            <a:off x="6803136" y="3394710"/>
            <a:ext cx="1995678" cy="1200150"/>
          </a:xfrm>
          <a:prstGeom prst="roundRect">
            <a:avLst>
              <a:gd fmla="val 4571" name="adj"/>
            </a:avLst>
          </a:prstGeom>
          <a:solidFill>
            <a:srgbClr val="FDF4E3"/>
          </a:solidFill>
          <a:ln cap="flat" cmpd="sng" w="9525">
            <a:solidFill>
              <a:srgbClr val="D4A24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00000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1"/>
          <p:cNvSpPr txBox="1"/>
          <p:nvPr/>
        </p:nvSpPr>
        <p:spPr>
          <a:xfrm>
            <a:off x="6926580" y="3490722"/>
            <a:ext cx="178308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5B06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9A5B06"/>
                </a:solidFill>
                <a:latin typeface="Calibri"/>
                <a:ea typeface="Calibri"/>
                <a:cs typeface="Calibri"/>
                <a:sym typeface="Calibri"/>
              </a:rPr>
              <a:t>Resume privacy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1"/>
          <p:cNvSpPr txBox="1"/>
          <p:nvPr/>
        </p:nvSpPr>
        <p:spPr>
          <a:xfrm>
            <a:off x="6926580" y="3819906"/>
            <a:ext cx="1783080" cy="720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Resume data is processed in-session only not stored, not shared. Designed around DPDP Act, 2023.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8" name="Google Shape;438;p11"/>
          <p:cNvPicPr preferRelativeResize="0"/>
          <p:nvPr/>
        </p:nvPicPr>
        <p:blipFill rotWithShape="1">
          <a:blip r:embed="rId3">
            <a:alphaModFix/>
          </a:blip>
          <a:srcRect b="18969" l="8265" r="0" t="0"/>
          <a:stretch/>
        </p:blipFill>
        <p:spPr>
          <a:xfrm>
            <a:off x="342900" y="116548"/>
            <a:ext cx="1097274" cy="32235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r="14100000" dist="19050">
              <a:srgbClr val="000000">
                <a:alpha val="48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2"/>
          <p:cNvSpPr/>
          <p:nvPr/>
        </p:nvSpPr>
        <p:spPr>
          <a:xfrm>
            <a:off x="7255764" y="246888"/>
            <a:ext cx="1543050" cy="219456"/>
          </a:xfrm>
          <a:prstGeom prst="roundRect">
            <a:avLst>
              <a:gd fmla="val 25000" name="adj"/>
            </a:avLst>
          </a:prstGeom>
          <a:solidFill>
            <a:srgbClr val="FDF1E4"/>
          </a:solidFill>
          <a:ln cap="flat" cmpd="sng" w="9525">
            <a:solidFill>
              <a:srgbClr val="E07B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2"/>
          <p:cNvSpPr txBox="1"/>
          <p:nvPr/>
        </p:nvSpPr>
        <p:spPr>
          <a:xfrm>
            <a:off x="7255764" y="246888"/>
            <a:ext cx="154305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7B12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E07B12"/>
                </a:solidFill>
                <a:latin typeface="Arial"/>
                <a:ea typeface="Arial"/>
                <a:cs typeface="Arial"/>
                <a:sym typeface="Arial"/>
              </a:rPr>
              <a:t>BUILD FOR BHARAT 2.0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2"/>
          <p:cNvSpPr txBox="1"/>
          <p:nvPr/>
        </p:nvSpPr>
        <p:spPr>
          <a:xfrm>
            <a:off x="1851660" y="164592"/>
            <a:ext cx="543839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100"/>
              <a:buFont typeface="Cambria"/>
              <a:buNone/>
            </a:pPr>
            <a:r>
              <a:rPr b="1" i="0" lang="en" sz="21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IMPACT &amp; ROADMAP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2"/>
          <p:cNvSpPr txBox="1"/>
          <p:nvPr/>
        </p:nvSpPr>
        <p:spPr>
          <a:xfrm>
            <a:off x="1028700" y="576072"/>
            <a:ext cx="708431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1100"/>
              <a:buFont typeface="Calibri"/>
              <a:buNone/>
            </a:pPr>
            <a:r>
              <a:rPr b="0" i="1" lang="en" sz="1100" u="none" cap="none" strike="noStrike">
                <a:solidFill>
                  <a:srgbClr val="2F5597"/>
                </a:solidFill>
                <a:latin typeface="Calibri"/>
                <a:ea typeface="Calibri"/>
                <a:cs typeface="Calibri"/>
                <a:sym typeface="Calibri"/>
              </a:rPr>
              <a:t>“A student shouldn’t need a senior’s contact to know what the market pays for.”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2"/>
          <p:cNvSpPr txBox="1"/>
          <p:nvPr/>
        </p:nvSpPr>
        <p:spPr>
          <a:xfrm>
            <a:off x="342900" y="4855464"/>
            <a:ext cx="41148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700"/>
              <a:buFont typeface="Calibri"/>
              <a:buNone/>
            </a:pPr>
            <a:r>
              <a:rPr lang="en" sz="700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Vriddhi</a:t>
            </a:r>
            <a:r>
              <a:rPr b="0" i="0" lang="en" sz="700" u="none" cap="none" strike="noStrike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  ·  Workforce Intelligence for Bharat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2"/>
          <p:cNvSpPr txBox="1"/>
          <p:nvPr/>
        </p:nvSpPr>
        <p:spPr>
          <a:xfrm>
            <a:off x="8455914" y="4855464"/>
            <a:ext cx="3429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2"/>
          <p:cNvSpPr/>
          <p:nvPr/>
        </p:nvSpPr>
        <p:spPr>
          <a:xfrm>
            <a:off x="342900" y="960120"/>
            <a:ext cx="2708910" cy="720090"/>
          </a:xfrm>
          <a:prstGeom prst="roundRect">
            <a:avLst>
              <a:gd fmla="val 7619" name="adj"/>
            </a:avLst>
          </a:prstGeom>
          <a:solidFill>
            <a:srgbClr val="F1F4F9"/>
          </a:solidFill>
          <a:ln cap="flat" cmpd="sng" w="9525">
            <a:solidFill>
              <a:srgbClr val="D6DC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00000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2"/>
          <p:cNvSpPr txBox="1"/>
          <p:nvPr/>
        </p:nvSpPr>
        <p:spPr>
          <a:xfrm>
            <a:off x="480060" y="960120"/>
            <a:ext cx="1200150" cy="7200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B12"/>
              </a:buClr>
              <a:buSzPts val="2000"/>
              <a:buFont typeface="Cambria"/>
              <a:buNone/>
            </a:pPr>
            <a:r>
              <a:rPr b="1" i="0" lang="en" sz="2000" u="none" cap="none" strike="noStrike">
                <a:solidFill>
                  <a:srgbClr val="E07B12"/>
                </a:solidFill>
                <a:latin typeface="Cambria"/>
                <a:ea typeface="Cambria"/>
                <a:cs typeface="Cambria"/>
                <a:sym typeface="Cambria"/>
              </a:rPr>
              <a:t>4.33 Cr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2"/>
          <p:cNvSpPr txBox="1"/>
          <p:nvPr/>
        </p:nvSpPr>
        <p:spPr>
          <a:xfrm>
            <a:off x="1680210" y="1028700"/>
            <a:ext cx="13030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students in Indian higher education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2"/>
          <p:cNvSpPr txBox="1"/>
          <p:nvPr/>
        </p:nvSpPr>
        <p:spPr>
          <a:xfrm>
            <a:off x="1680210" y="1440180"/>
            <a:ext cx="130302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600"/>
              <a:buFont typeface="Calibri"/>
              <a:buNone/>
            </a:pPr>
            <a:r>
              <a:rPr b="0" i="1" lang="en" sz="600" u="none" cap="none" strike="noStrike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AISHE 2021-22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2"/>
          <p:cNvSpPr/>
          <p:nvPr/>
        </p:nvSpPr>
        <p:spPr>
          <a:xfrm>
            <a:off x="3216402" y="960120"/>
            <a:ext cx="2708910" cy="720090"/>
          </a:xfrm>
          <a:prstGeom prst="roundRect">
            <a:avLst>
              <a:gd fmla="val 7619" name="adj"/>
            </a:avLst>
          </a:prstGeom>
          <a:solidFill>
            <a:srgbClr val="F1F4F9"/>
          </a:solidFill>
          <a:ln cap="flat" cmpd="sng" w="9525">
            <a:solidFill>
              <a:srgbClr val="D6DC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00000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2"/>
          <p:cNvSpPr txBox="1"/>
          <p:nvPr/>
        </p:nvSpPr>
        <p:spPr>
          <a:xfrm>
            <a:off x="3353562" y="960120"/>
            <a:ext cx="1200150" cy="7200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B12"/>
              </a:buClr>
              <a:buSzPts val="2000"/>
              <a:buFont typeface="Cambria"/>
              <a:buNone/>
            </a:pPr>
            <a:r>
              <a:rPr b="1" i="0" lang="en" sz="2000" u="none" cap="none" strike="noStrike">
                <a:solidFill>
                  <a:srgbClr val="E07B12"/>
                </a:solidFill>
                <a:latin typeface="Cambria"/>
                <a:ea typeface="Cambria"/>
                <a:cs typeface="Cambria"/>
                <a:sym typeface="Cambria"/>
              </a:rPr>
              <a:t>46,600+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2"/>
          <p:cNvSpPr txBox="1"/>
          <p:nvPr/>
        </p:nvSpPr>
        <p:spPr>
          <a:xfrm>
            <a:off x="4553712" y="1028700"/>
            <a:ext cx="13030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universities &amp; colleges (1,168 + 45,473)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2"/>
          <p:cNvSpPr txBox="1"/>
          <p:nvPr/>
        </p:nvSpPr>
        <p:spPr>
          <a:xfrm>
            <a:off x="4553712" y="1440180"/>
            <a:ext cx="130302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600"/>
              <a:buFont typeface="Calibri"/>
              <a:buNone/>
            </a:pPr>
            <a:r>
              <a:rPr b="0" i="1" lang="en" sz="600" u="none" cap="none" strike="noStrike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AISHE 2021-22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2"/>
          <p:cNvSpPr/>
          <p:nvPr/>
        </p:nvSpPr>
        <p:spPr>
          <a:xfrm>
            <a:off x="6089904" y="960120"/>
            <a:ext cx="2708910" cy="720090"/>
          </a:xfrm>
          <a:prstGeom prst="roundRect">
            <a:avLst>
              <a:gd fmla="val 7619" name="adj"/>
            </a:avLst>
          </a:prstGeom>
          <a:solidFill>
            <a:srgbClr val="F1F4F9"/>
          </a:solidFill>
          <a:ln cap="flat" cmpd="sng" w="9525">
            <a:solidFill>
              <a:srgbClr val="D6DC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00000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2"/>
          <p:cNvSpPr txBox="1"/>
          <p:nvPr/>
        </p:nvSpPr>
        <p:spPr>
          <a:xfrm>
            <a:off x="6227064" y="960120"/>
            <a:ext cx="1200150" cy="7200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B12"/>
              </a:buClr>
              <a:buSzPts val="2000"/>
              <a:buFont typeface="Cambria"/>
              <a:buNone/>
            </a:pPr>
            <a:r>
              <a:rPr b="1" i="0" lang="en" sz="2000" u="none" cap="none" strike="noStrike">
                <a:solidFill>
                  <a:srgbClr val="E07B12"/>
                </a:solidFill>
                <a:latin typeface="Cambria"/>
                <a:ea typeface="Cambria"/>
                <a:cs typeface="Cambria"/>
                <a:sym typeface="Cambria"/>
              </a:rPr>
              <a:t>1.5M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2"/>
          <p:cNvSpPr txBox="1"/>
          <p:nvPr/>
        </p:nvSpPr>
        <p:spPr>
          <a:xfrm>
            <a:off x="7427214" y="1028700"/>
            <a:ext cx="13030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engineering graduates every year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2"/>
          <p:cNvSpPr txBox="1"/>
          <p:nvPr/>
        </p:nvSpPr>
        <p:spPr>
          <a:xfrm>
            <a:off x="7427214" y="1440180"/>
            <a:ext cx="130302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600"/>
              <a:buFont typeface="Calibri"/>
              <a:buNone/>
            </a:pPr>
            <a:r>
              <a:rPr b="0" i="1" lang="en" sz="600" u="none" cap="none" strike="noStrike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TeamLease, 2024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2"/>
          <p:cNvSpPr txBox="1"/>
          <p:nvPr/>
        </p:nvSpPr>
        <p:spPr>
          <a:xfrm>
            <a:off x="342900" y="1851660"/>
            <a:ext cx="48006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BEFORE VS AFTER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63" name="Google Shape;463;p12"/>
          <p:cNvGraphicFramePr/>
          <p:nvPr/>
        </p:nvGraphicFramePr>
        <p:xfrm>
          <a:off x="342900" y="20916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{14A76909-1354-41D0-A7A0-E654AC0BD8A4}</a:tableStyleId>
              </a:tblPr>
              <a:tblGrid>
                <a:gridCol w="994400"/>
                <a:gridCol w="1885950"/>
                <a:gridCol w="2057400"/>
              </a:tblGrid>
              <a:tr h="27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Stakeholder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Today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With </a:t>
                      </a:r>
                      <a:r>
                        <a:rPr b="1" lang="en" sz="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Vriddhi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</a:tr>
              <a:tr h="39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Students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2318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B423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Anecdotal advice, guesswork on what to learn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803D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1580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Ranked skills with ₹ impact, in minutes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Recruiters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2318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B423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Long time-to-hire, offers priced by gut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803D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1580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City-level demand + salary benchmarks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C"/>
                    </a:solidFill>
                  </a:tcPr>
                </a:tc>
              </a:tr>
              <a:tr h="39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Universities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2318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B423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Multi-year syllabus cycles, no market data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803D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1580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Course-level alignment score + PDF report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64" name="Google Shape;464;p12"/>
          <p:cNvSpPr txBox="1"/>
          <p:nvPr/>
        </p:nvSpPr>
        <p:spPr>
          <a:xfrm>
            <a:off x="342900" y="3669030"/>
            <a:ext cx="48006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ALIGNED WITH NATIONAL MISSIONS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2"/>
          <p:cNvSpPr/>
          <p:nvPr/>
        </p:nvSpPr>
        <p:spPr>
          <a:xfrm>
            <a:off x="342900" y="3909060"/>
            <a:ext cx="1591056" cy="768096"/>
          </a:xfrm>
          <a:prstGeom prst="roundRect">
            <a:avLst>
              <a:gd fmla="val 7143" name="adj"/>
            </a:avLst>
          </a:prstGeom>
          <a:solidFill>
            <a:srgbClr val="E8F5EC"/>
          </a:solidFill>
          <a:ln cap="flat" cmpd="sng" w="9525">
            <a:solidFill>
              <a:srgbClr val="1580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2"/>
          <p:cNvSpPr txBox="1"/>
          <p:nvPr/>
        </p:nvSpPr>
        <p:spPr>
          <a:xfrm>
            <a:off x="438912" y="3963924"/>
            <a:ext cx="1405890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NEP 2020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2"/>
          <p:cNvSpPr txBox="1"/>
          <p:nvPr/>
        </p:nvSpPr>
        <p:spPr>
          <a:xfrm>
            <a:off x="438912" y="4155948"/>
            <a:ext cx="140589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Industry-relevant curricula — CurriculumSync gives HODs the evidence.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2"/>
          <p:cNvSpPr/>
          <p:nvPr/>
        </p:nvSpPr>
        <p:spPr>
          <a:xfrm>
            <a:off x="2016252" y="3909060"/>
            <a:ext cx="1591056" cy="768096"/>
          </a:xfrm>
          <a:prstGeom prst="roundRect">
            <a:avLst>
              <a:gd fmla="val 7143" name="adj"/>
            </a:avLst>
          </a:prstGeom>
          <a:solidFill>
            <a:srgbClr val="E8F5EC"/>
          </a:solidFill>
          <a:ln cap="flat" cmpd="sng" w="9525">
            <a:solidFill>
              <a:srgbClr val="1580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2"/>
          <p:cNvSpPr txBox="1"/>
          <p:nvPr/>
        </p:nvSpPr>
        <p:spPr>
          <a:xfrm>
            <a:off x="2112264" y="3963924"/>
            <a:ext cx="1405890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Skill India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2"/>
          <p:cNvSpPr txBox="1"/>
          <p:nvPr/>
        </p:nvSpPr>
        <p:spPr>
          <a:xfrm>
            <a:off x="2112264" y="4155948"/>
            <a:ext cx="140589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Demand-led skilling — SkillRadar shows where demand is, by city.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2"/>
          <p:cNvSpPr/>
          <p:nvPr/>
        </p:nvSpPr>
        <p:spPr>
          <a:xfrm>
            <a:off x="3689604" y="3909060"/>
            <a:ext cx="1591056" cy="768096"/>
          </a:xfrm>
          <a:prstGeom prst="roundRect">
            <a:avLst>
              <a:gd fmla="val 7143" name="adj"/>
            </a:avLst>
          </a:prstGeom>
          <a:solidFill>
            <a:srgbClr val="E8F5EC"/>
          </a:solidFill>
          <a:ln cap="flat" cmpd="sng" w="9525">
            <a:solidFill>
              <a:srgbClr val="1580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2"/>
          <p:cNvSpPr txBox="1"/>
          <p:nvPr/>
        </p:nvSpPr>
        <p:spPr>
          <a:xfrm>
            <a:off x="3785616" y="3963924"/>
            <a:ext cx="1405890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Viksit Bharat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2"/>
          <p:cNvSpPr txBox="1"/>
          <p:nvPr/>
        </p:nvSpPr>
        <p:spPr>
          <a:xfrm>
            <a:off x="3785616" y="4155948"/>
            <a:ext cx="140589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productive workforce needs a live skills map, not yearly reports.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2"/>
          <p:cNvSpPr txBox="1"/>
          <p:nvPr/>
        </p:nvSpPr>
        <p:spPr>
          <a:xfrm>
            <a:off x="5486400" y="1851660"/>
            <a:ext cx="32918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ROADMAP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5" name="Google Shape;475;p12"/>
          <p:cNvCxnSpPr/>
          <p:nvPr/>
        </p:nvCxnSpPr>
        <p:spPr>
          <a:xfrm>
            <a:off x="5582412" y="2194560"/>
            <a:ext cx="0" cy="2194560"/>
          </a:xfrm>
          <a:prstGeom prst="straightConnector1">
            <a:avLst/>
          </a:prstGeom>
          <a:noFill/>
          <a:ln cap="flat" cmpd="sng" w="25400">
            <a:solidFill>
              <a:srgbClr val="D6DC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6" name="Google Shape;476;p12"/>
          <p:cNvSpPr/>
          <p:nvPr/>
        </p:nvSpPr>
        <p:spPr>
          <a:xfrm>
            <a:off x="5486400" y="2160270"/>
            <a:ext cx="192024" cy="192024"/>
          </a:xfrm>
          <a:prstGeom prst="ellipse">
            <a:avLst/>
          </a:prstGeom>
          <a:solidFill>
            <a:srgbClr val="15803D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2"/>
          <p:cNvSpPr/>
          <p:nvPr/>
        </p:nvSpPr>
        <p:spPr>
          <a:xfrm>
            <a:off x="5795010" y="2091690"/>
            <a:ext cx="3003804" cy="582930"/>
          </a:xfrm>
          <a:prstGeom prst="roundRect">
            <a:avLst>
              <a:gd fmla="val 9412" name="adj"/>
            </a:avLst>
          </a:prstGeom>
          <a:solidFill>
            <a:srgbClr val="F1F4F9"/>
          </a:solidFill>
          <a:ln cap="flat" cmpd="sng" w="9525">
            <a:solidFill>
              <a:srgbClr val="D6DC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00000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2"/>
          <p:cNvSpPr txBox="1"/>
          <p:nvPr/>
        </p:nvSpPr>
        <p:spPr>
          <a:xfrm>
            <a:off x="5897880" y="2139696"/>
            <a:ext cx="281178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NOW · HACKATHON MVP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2"/>
          <p:cNvSpPr txBox="1"/>
          <p:nvPr/>
        </p:nvSpPr>
        <p:spPr>
          <a:xfrm>
            <a:off x="5897880" y="2318004"/>
            <a:ext cx="28117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 modules + 2 in-house models, offline counselor, Streamlit + FastAPI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2"/>
          <p:cNvSpPr/>
          <p:nvPr/>
        </p:nvSpPr>
        <p:spPr>
          <a:xfrm>
            <a:off x="5486400" y="2811780"/>
            <a:ext cx="192024" cy="192024"/>
          </a:xfrm>
          <a:prstGeom prst="ellipse">
            <a:avLst/>
          </a:prstGeom>
          <a:solidFill>
            <a:srgbClr val="1B2A4A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2"/>
          <p:cNvSpPr/>
          <p:nvPr/>
        </p:nvSpPr>
        <p:spPr>
          <a:xfrm>
            <a:off x="5795010" y="2743200"/>
            <a:ext cx="3003804" cy="582930"/>
          </a:xfrm>
          <a:prstGeom prst="roundRect">
            <a:avLst>
              <a:gd fmla="val 9412" name="adj"/>
            </a:avLst>
          </a:prstGeom>
          <a:solidFill>
            <a:srgbClr val="F1F4F9"/>
          </a:solidFill>
          <a:ln cap="flat" cmpd="sng" w="9525">
            <a:solidFill>
              <a:srgbClr val="D6DC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00000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2"/>
          <p:cNvSpPr txBox="1"/>
          <p:nvPr/>
        </p:nvSpPr>
        <p:spPr>
          <a:xfrm>
            <a:off x="5897880" y="2791206"/>
            <a:ext cx="281178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3 MONTHS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2"/>
          <p:cNvSpPr txBox="1"/>
          <p:nvPr/>
        </p:nvSpPr>
        <p:spPr>
          <a:xfrm>
            <a:off x="5897880" y="2969514"/>
            <a:ext cx="28117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Live job-portal feeds · Hindi &amp; regional-language counselor fine-tune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2"/>
          <p:cNvSpPr/>
          <p:nvPr/>
        </p:nvSpPr>
        <p:spPr>
          <a:xfrm>
            <a:off x="5486400" y="3463290"/>
            <a:ext cx="192024" cy="192024"/>
          </a:xfrm>
          <a:prstGeom prst="ellipse">
            <a:avLst/>
          </a:prstGeom>
          <a:solidFill>
            <a:srgbClr val="1B2A4A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2"/>
          <p:cNvSpPr/>
          <p:nvPr/>
        </p:nvSpPr>
        <p:spPr>
          <a:xfrm>
            <a:off x="5795010" y="3394710"/>
            <a:ext cx="3003804" cy="582930"/>
          </a:xfrm>
          <a:prstGeom prst="roundRect">
            <a:avLst>
              <a:gd fmla="val 9412" name="adj"/>
            </a:avLst>
          </a:prstGeom>
          <a:solidFill>
            <a:srgbClr val="F1F4F9"/>
          </a:solidFill>
          <a:ln cap="flat" cmpd="sng" w="9525">
            <a:solidFill>
              <a:srgbClr val="D6DC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00000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2"/>
          <p:cNvSpPr txBox="1"/>
          <p:nvPr/>
        </p:nvSpPr>
        <p:spPr>
          <a:xfrm>
            <a:off x="5897880" y="3442716"/>
            <a:ext cx="281178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6 MONTHS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2"/>
          <p:cNvSpPr txBox="1"/>
          <p:nvPr/>
        </p:nvSpPr>
        <p:spPr>
          <a:xfrm>
            <a:off x="5897880" y="3621024"/>
            <a:ext cx="28117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Student mobile app with on-device model · B2B API for HR platforms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2"/>
          <p:cNvSpPr/>
          <p:nvPr/>
        </p:nvSpPr>
        <p:spPr>
          <a:xfrm>
            <a:off x="5486400" y="4114800"/>
            <a:ext cx="192024" cy="192024"/>
          </a:xfrm>
          <a:prstGeom prst="ellipse">
            <a:avLst/>
          </a:prstGeom>
          <a:solidFill>
            <a:srgbClr val="E07B12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2"/>
          <p:cNvSpPr/>
          <p:nvPr/>
        </p:nvSpPr>
        <p:spPr>
          <a:xfrm>
            <a:off x="5795010" y="4046220"/>
            <a:ext cx="3003804" cy="582930"/>
          </a:xfrm>
          <a:prstGeom prst="roundRect">
            <a:avLst>
              <a:gd fmla="val 9412" name="adj"/>
            </a:avLst>
          </a:prstGeom>
          <a:solidFill>
            <a:srgbClr val="F1F4F9"/>
          </a:solidFill>
          <a:ln cap="flat" cmpd="sng" w="9525">
            <a:solidFill>
              <a:srgbClr val="D6DC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00000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2"/>
          <p:cNvSpPr txBox="1"/>
          <p:nvPr/>
        </p:nvSpPr>
        <p:spPr>
          <a:xfrm>
            <a:off x="5897880" y="4094226"/>
            <a:ext cx="281178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B12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E07B12"/>
                </a:solidFill>
                <a:latin typeface="Arial"/>
                <a:ea typeface="Arial"/>
                <a:cs typeface="Arial"/>
                <a:sym typeface="Arial"/>
              </a:rPr>
              <a:t>12 MONTHS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2"/>
          <p:cNvSpPr txBox="1"/>
          <p:nvPr/>
        </p:nvSpPr>
        <p:spPr>
          <a:xfrm>
            <a:off x="5897880" y="4272534"/>
            <a:ext cx="28117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NSDC / Skill India partnerships · college licences for CurriculumSync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2" name="Google Shape;492;p12"/>
          <p:cNvPicPr preferRelativeResize="0"/>
          <p:nvPr/>
        </p:nvPicPr>
        <p:blipFill rotWithShape="1">
          <a:blip r:embed="rId3">
            <a:alphaModFix/>
          </a:blip>
          <a:srcRect b="18969" l="8265" r="0" t="0"/>
          <a:stretch/>
        </p:blipFill>
        <p:spPr>
          <a:xfrm>
            <a:off x="342900" y="116548"/>
            <a:ext cx="1097274" cy="32235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r="14100000" dist="19050">
              <a:srgbClr val="000000">
                <a:alpha val="48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